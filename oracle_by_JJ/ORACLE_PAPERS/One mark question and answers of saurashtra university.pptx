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90" d="100"/>
          <a:sy n="90" d="100"/>
        </p:scale>
        <p:origin x="-816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DE567-7B5C-470B-98AF-A401B687ABE1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EDCB2-AED6-43FF-A0CE-B5A718D98A6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4EDCB2-AED6-43FF-A0CE-B5A718D98A6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F867E56-123B-4CA7-BCD1-1A1A531B962D}" type="datetimeFigureOut">
              <a:rPr lang="en-US" smtClean="0"/>
              <a:pPr/>
              <a:t>9/29/2023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9CCC7E8-B90F-4BD1-A2ED-0734B6FA7A9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1371600"/>
            <a:ext cx="6477000" cy="1828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One mark question and answers of </a:t>
            </a:r>
            <a:r>
              <a:rPr lang="en-US" dirty="0" err="1" smtClean="0"/>
              <a:t>saurashtra</a:t>
            </a:r>
            <a:r>
              <a:rPr lang="en-US" dirty="0" smtClean="0"/>
              <a:t> university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2017 old ___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/>
              <a:t> </a:t>
            </a:r>
          </a:p>
          <a:p>
            <a:r>
              <a:rPr lang="en-US" sz="1600" dirty="0" smtClean="0"/>
              <a:t>1. DQL stands for _______</a:t>
            </a:r>
          </a:p>
          <a:p>
            <a:r>
              <a:rPr lang="en-US" sz="1600" b="1" u="sng" dirty="0" smtClean="0"/>
              <a:t> </a:t>
            </a:r>
            <a:r>
              <a:rPr lang="en-US" sz="1600" u="sng" dirty="0" err="1" smtClean="0"/>
              <a:t>ans</a:t>
            </a:r>
            <a:r>
              <a:rPr lang="en-US" sz="1600" u="sng" dirty="0" smtClean="0"/>
              <a:t> : </a:t>
            </a:r>
            <a:r>
              <a:rPr lang="en-US" sz="1600" b="1" u="sng" dirty="0" smtClean="0"/>
              <a:t>Data Query Language</a:t>
            </a:r>
            <a:r>
              <a:rPr lang="en-US" sz="1600" dirty="0" smtClean="0"/>
              <a:t>   </a:t>
            </a:r>
          </a:p>
          <a:p>
            <a:r>
              <a:rPr lang="en-US" sz="1600" dirty="0" smtClean="0"/>
              <a:t>2. Sequence may be used to generate _______ value.</a:t>
            </a:r>
          </a:p>
          <a:p>
            <a:r>
              <a:rPr lang="en-US" sz="1600" dirty="0" err="1" smtClean="0"/>
              <a:t>Ans</a:t>
            </a:r>
            <a:r>
              <a:rPr lang="en-US" sz="1600" dirty="0" smtClean="0"/>
              <a:t> : </a:t>
            </a:r>
            <a:r>
              <a:rPr lang="en-US" sz="1600" b="1" u="sng" dirty="0" smtClean="0"/>
              <a:t>sequential</a:t>
            </a:r>
            <a:r>
              <a:rPr lang="en-US" sz="1600" dirty="0" smtClean="0"/>
              <a:t>  </a:t>
            </a:r>
          </a:p>
          <a:p>
            <a:r>
              <a:rPr lang="en-US" sz="1600" dirty="0" smtClean="0"/>
              <a:t>3. Explicit cursor is also known as  </a:t>
            </a:r>
          </a:p>
          <a:p>
            <a:r>
              <a:rPr lang="en-US" sz="1600" dirty="0" err="1" smtClean="0"/>
              <a:t>Ans</a:t>
            </a:r>
            <a:r>
              <a:rPr lang="en-US" sz="1600" dirty="0" smtClean="0"/>
              <a:t> : </a:t>
            </a:r>
            <a:r>
              <a:rPr lang="en-US" sz="1600" b="1" u="sng" dirty="0" smtClean="0"/>
              <a:t>User Define Cursor</a:t>
            </a:r>
            <a:r>
              <a:rPr lang="en-US" sz="1600" dirty="0" smtClean="0"/>
              <a:t>  </a:t>
            </a:r>
          </a:p>
          <a:p>
            <a:r>
              <a:rPr lang="en-US" sz="1600" dirty="0" smtClean="0"/>
              <a:t>4. DDL stands for </a:t>
            </a:r>
            <a:r>
              <a:rPr lang="en-US" sz="1600" b="1" dirty="0" smtClean="0"/>
              <a:t> </a:t>
            </a:r>
          </a:p>
          <a:p>
            <a:r>
              <a:rPr lang="en-US" sz="1600" b="1" dirty="0" err="1" smtClean="0"/>
              <a:t>Ans</a:t>
            </a:r>
            <a:r>
              <a:rPr lang="en-US" sz="1600" b="1" dirty="0" smtClean="0"/>
              <a:t> :  </a:t>
            </a:r>
            <a:r>
              <a:rPr lang="en-US" sz="1600" b="1" u="sng" dirty="0" smtClean="0"/>
              <a:t>Data Definition Language</a:t>
            </a:r>
            <a:r>
              <a:rPr lang="en-US" sz="1600" dirty="0" smtClean="0"/>
              <a:t>  </a:t>
            </a:r>
          </a:p>
          <a:p>
            <a:r>
              <a:rPr lang="en-US" sz="1600" dirty="0" smtClean="0"/>
              <a:t>5. Client is usually called_______ simple user Workstation.  </a:t>
            </a:r>
            <a:endParaRPr lang="en-US" sz="1600" dirty="0" smtClean="0"/>
          </a:p>
          <a:p>
            <a:r>
              <a:rPr lang="en-US" sz="1600" dirty="0" smtClean="0"/>
              <a:t>Client machine</a:t>
            </a:r>
            <a:endParaRPr lang="en-US" sz="1600" dirty="0" smtClean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6. ________command is used to see current user name.</a:t>
            </a:r>
          </a:p>
          <a:p>
            <a:r>
              <a:rPr lang="en-US" sz="1600" dirty="0" err="1" smtClean="0"/>
              <a:t>Ans</a:t>
            </a:r>
            <a:r>
              <a:rPr lang="en-US" sz="1600" dirty="0" smtClean="0"/>
              <a:t> : </a:t>
            </a:r>
            <a:r>
              <a:rPr lang="en-US" sz="1600" b="1" u="sng" dirty="0" smtClean="0"/>
              <a:t>select user from dual;</a:t>
            </a:r>
            <a:r>
              <a:rPr lang="en-US" sz="1600" dirty="0" smtClean="0"/>
              <a:t>  </a:t>
            </a:r>
          </a:p>
          <a:p>
            <a:r>
              <a:rPr lang="en-US" sz="1600" dirty="0" smtClean="0"/>
              <a:t>7. PL/SQL stands for </a:t>
            </a:r>
            <a:r>
              <a:rPr lang="en-US" sz="1600" b="1" dirty="0" smtClean="0"/>
              <a:t> </a:t>
            </a:r>
          </a:p>
          <a:p>
            <a:r>
              <a:rPr lang="en-US" sz="1600" b="1" dirty="0" err="1" smtClean="0"/>
              <a:t>Ans</a:t>
            </a:r>
            <a:r>
              <a:rPr lang="en-US" sz="1600" b="1" dirty="0" smtClean="0"/>
              <a:t> :  </a:t>
            </a:r>
            <a:r>
              <a:rPr lang="en-US" sz="1600" b="1" u="sng" dirty="0" smtClean="0"/>
              <a:t>Procedural Language/Structure Query Language</a:t>
            </a:r>
            <a:r>
              <a:rPr lang="en-US" sz="1600" dirty="0" smtClean="0"/>
              <a:t>  </a:t>
            </a:r>
          </a:p>
          <a:p>
            <a:r>
              <a:rPr lang="en-US" sz="1600" dirty="0" smtClean="0"/>
              <a:t>8. DML stands for   </a:t>
            </a:r>
          </a:p>
          <a:p>
            <a:r>
              <a:rPr lang="en-US" sz="1600" dirty="0" err="1" smtClean="0"/>
              <a:t>Ans</a:t>
            </a:r>
            <a:r>
              <a:rPr lang="en-US" sz="1600" dirty="0" smtClean="0"/>
              <a:t> :  </a:t>
            </a:r>
            <a:r>
              <a:rPr lang="en-US" sz="1600" b="1" u="sng" dirty="0" smtClean="0"/>
              <a:t>Data Manipulation Language</a:t>
            </a:r>
            <a:r>
              <a:rPr lang="en-US" sz="1600" dirty="0" smtClean="0"/>
              <a:t>  </a:t>
            </a:r>
          </a:p>
          <a:p>
            <a:r>
              <a:rPr lang="en-US" sz="1600" dirty="0" smtClean="0"/>
              <a:t>9._____ command is used to display the structure of  a table.</a:t>
            </a:r>
          </a:p>
          <a:p>
            <a:r>
              <a:rPr lang="en-US" sz="1600" dirty="0" smtClean="0"/>
              <a:t> </a:t>
            </a:r>
            <a:r>
              <a:rPr lang="en-US" sz="1600" dirty="0" err="1" smtClean="0"/>
              <a:t>ans</a:t>
            </a:r>
            <a:r>
              <a:rPr lang="en-US" sz="1600" dirty="0" smtClean="0"/>
              <a:t> : </a:t>
            </a:r>
            <a:r>
              <a:rPr lang="en-US" sz="1600" b="1" u="sng" dirty="0" smtClean="0"/>
              <a:t>Describe </a:t>
            </a:r>
            <a:r>
              <a:rPr lang="en-US" sz="1600" dirty="0" smtClean="0"/>
              <a:t>  </a:t>
            </a:r>
          </a:p>
          <a:p>
            <a:r>
              <a:rPr lang="en-US" sz="1600" dirty="0" smtClean="0"/>
              <a:t>10. SQL command is terminated with   ___ </a:t>
            </a:r>
            <a:r>
              <a:rPr lang="en-US" sz="1600" b="1" u="sng" dirty="0" smtClean="0"/>
              <a:t>;___</a:t>
            </a:r>
            <a:r>
              <a:rPr lang="en-US" sz="1600" dirty="0" smtClean="0"/>
              <a:t>  </a:t>
            </a:r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endParaRPr lang="en-US" sz="1400" dirty="0" smtClean="0"/>
          </a:p>
          <a:p>
            <a:r>
              <a:rPr lang="en-US" sz="1400" dirty="0" smtClean="0"/>
              <a:t>11. RDBMS stands for </a:t>
            </a:r>
          </a:p>
          <a:p>
            <a:r>
              <a:rPr lang="en-US" sz="1400" dirty="0" err="1" smtClean="0"/>
              <a:t>Ans</a:t>
            </a:r>
            <a:r>
              <a:rPr lang="en-US" sz="1400" dirty="0" smtClean="0"/>
              <a:t> : </a:t>
            </a:r>
            <a:r>
              <a:rPr lang="en-US" sz="1400" b="1" u="sng" dirty="0" smtClean="0"/>
              <a:t>Relational Database Management System </a:t>
            </a:r>
            <a:endParaRPr lang="en-US" sz="1400" dirty="0" smtClean="0"/>
          </a:p>
          <a:p>
            <a:r>
              <a:rPr lang="en-US" sz="1400" dirty="0" smtClean="0"/>
              <a:t>12. The symbol of concatenation operator is  ______</a:t>
            </a:r>
          </a:p>
          <a:p>
            <a:r>
              <a:rPr lang="en-US" sz="1400" dirty="0" err="1" smtClean="0"/>
              <a:t>Ans</a:t>
            </a:r>
            <a:r>
              <a:rPr lang="en-US" sz="1400" dirty="0" smtClean="0"/>
              <a:t> : ||</a:t>
            </a:r>
          </a:p>
          <a:p>
            <a:r>
              <a:rPr lang="en-US" sz="1400" dirty="0" smtClean="0"/>
              <a:t>13. The data store in the cursor memory is called the ___________</a:t>
            </a:r>
          </a:p>
          <a:p>
            <a:r>
              <a:rPr lang="en-US" sz="1400" dirty="0" err="1" smtClean="0"/>
              <a:t>Ans</a:t>
            </a:r>
            <a:r>
              <a:rPr lang="en-US" sz="1400" dirty="0" smtClean="0"/>
              <a:t> : </a:t>
            </a:r>
            <a:r>
              <a:rPr lang="en-US" sz="1400" b="1" u="sng" dirty="0" smtClean="0"/>
              <a:t>Active Data Set</a:t>
            </a:r>
            <a:r>
              <a:rPr lang="en-US" sz="1400" dirty="0" smtClean="0"/>
              <a:t>  </a:t>
            </a:r>
          </a:p>
          <a:p>
            <a:r>
              <a:rPr lang="en-US" sz="1400" dirty="0" smtClean="0"/>
              <a:t>14. The last Written command is store in SQL buffer and  </a:t>
            </a:r>
          </a:p>
          <a:p>
            <a:r>
              <a:rPr lang="en-US" sz="1400" dirty="0" smtClean="0"/>
              <a:t>can be re-executed with _____________  </a:t>
            </a:r>
          </a:p>
          <a:p>
            <a:r>
              <a:rPr lang="en-US" sz="1400" b="1" u="sng" dirty="0" err="1" smtClean="0"/>
              <a:t>Ans</a:t>
            </a:r>
            <a:r>
              <a:rPr lang="en-US" sz="1400" b="1" u="sng" dirty="0" smtClean="0"/>
              <a:t> : /</a:t>
            </a:r>
            <a:endParaRPr lang="en-US" sz="1400" dirty="0" smtClean="0"/>
          </a:p>
          <a:p>
            <a:r>
              <a:rPr lang="en-US" sz="1400" dirty="0" smtClean="0"/>
              <a:t>15. Inner join is also called ___________ </a:t>
            </a:r>
          </a:p>
          <a:p>
            <a:r>
              <a:rPr lang="en-US" sz="1400" dirty="0" err="1" smtClean="0"/>
              <a:t>Ans</a:t>
            </a:r>
            <a:r>
              <a:rPr lang="en-US" sz="1400" dirty="0" smtClean="0"/>
              <a:t> : </a:t>
            </a:r>
            <a:r>
              <a:rPr lang="en-US" sz="1400" b="1" u="sng" dirty="0" err="1" smtClean="0"/>
              <a:t>Equi</a:t>
            </a:r>
            <a:r>
              <a:rPr lang="en-US" sz="1400" b="1" u="sng" dirty="0" smtClean="0"/>
              <a:t> join </a:t>
            </a:r>
            <a:r>
              <a:rPr lang="en-US" sz="1400" dirty="0" smtClean="0"/>
              <a:t> 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47500" lnSpcReduction="20000"/>
          </a:bodyPr>
          <a:lstStyle/>
          <a:p>
            <a:endParaRPr lang="en-US" sz="3200" dirty="0" smtClean="0"/>
          </a:p>
          <a:p>
            <a:r>
              <a:rPr lang="en-US" sz="3200" dirty="0" smtClean="0"/>
              <a:t>16. The </a:t>
            </a:r>
            <a:r>
              <a:rPr lang="en-US" sz="3200" dirty="0" err="1" smtClean="0"/>
              <a:t>sql</a:t>
            </a:r>
            <a:r>
              <a:rPr lang="en-US" sz="3200" dirty="0" smtClean="0"/>
              <a:t> * loader stores </a:t>
            </a:r>
            <a:r>
              <a:rPr lang="en-US" sz="3200" dirty="0" err="1" smtClean="0"/>
              <a:t>ﬁltered</a:t>
            </a:r>
            <a:r>
              <a:rPr lang="en-US" sz="3200" dirty="0" smtClean="0"/>
              <a:t> records in________  </a:t>
            </a:r>
            <a:r>
              <a:rPr lang="en-US" sz="3200" dirty="0" err="1" smtClean="0"/>
              <a:t>ﬁle</a:t>
            </a:r>
            <a:r>
              <a:rPr lang="en-US" sz="3200" dirty="0" smtClean="0"/>
              <a:t>.</a:t>
            </a:r>
          </a:p>
          <a:p>
            <a:r>
              <a:rPr lang="en-US" sz="3200" dirty="0" err="1" smtClean="0"/>
              <a:t>Ans</a:t>
            </a:r>
            <a:r>
              <a:rPr lang="en-US" sz="3200" dirty="0" smtClean="0"/>
              <a:t> : </a:t>
            </a:r>
            <a:r>
              <a:rPr lang="en-US" sz="3200" b="1" u="sng" dirty="0" err="1" smtClean="0"/>
              <a:t>control</a:t>
            </a:r>
            <a:r>
              <a:rPr lang="en-US" sz="3200" dirty="0" err="1" smtClean="0"/>
              <a:t>_</a:t>
            </a:r>
            <a:r>
              <a:rPr lang="en-US" sz="3200" b="1" dirty="0" err="1" smtClean="0"/>
              <a:t>file</a:t>
            </a:r>
            <a:r>
              <a:rPr lang="en-US" sz="3200" dirty="0" smtClean="0"/>
              <a:t>  </a:t>
            </a:r>
          </a:p>
          <a:p>
            <a:r>
              <a:rPr lang="en-US" sz="3200" dirty="0" smtClean="0"/>
              <a:t>17. __________process performs instance recovery at instance  </a:t>
            </a:r>
          </a:p>
          <a:p>
            <a:r>
              <a:rPr lang="en-US" sz="3200" dirty="0" smtClean="0"/>
              <a:t>start-up.  </a:t>
            </a:r>
          </a:p>
          <a:p>
            <a:r>
              <a:rPr lang="en-US" sz="3200" dirty="0" err="1" smtClean="0"/>
              <a:t>Ans</a:t>
            </a:r>
            <a:r>
              <a:rPr lang="en-US" sz="3200" dirty="0" smtClean="0"/>
              <a:t> : </a:t>
            </a:r>
            <a:r>
              <a:rPr lang="en-US" sz="3200" b="1" u="sng" dirty="0" smtClean="0"/>
              <a:t>recovery</a:t>
            </a:r>
            <a:endParaRPr lang="en-US" sz="3200" dirty="0" smtClean="0"/>
          </a:p>
          <a:p>
            <a:r>
              <a:rPr lang="en-US" sz="3200" dirty="0" smtClean="0"/>
              <a:t>18. %ROWCOUNT returns ____________ </a:t>
            </a:r>
          </a:p>
          <a:p>
            <a:r>
              <a:rPr lang="en-US" sz="3200" dirty="0" err="1" smtClean="0"/>
              <a:t>Ans</a:t>
            </a:r>
            <a:r>
              <a:rPr lang="en-US" sz="3200" dirty="0" smtClean="0"/>
              <a:t> : </a:t>
            </a:r>
            <a:r>
              <a:rPr lang="en-US" sz="3200" b="1" u="sng" dirty="0" smtClean="0"/>
              <a:t>number of rows affected by SQL statement </a:t>
            </a:r>
            <a:r>
              <a:rPr lang="en-US" sz="3200" dirty="0" smtClean="0"/>
              <a:t> </a:t>
            </a:r>
          </a:p>
          <a:p>
            <a:r>
              <a:rPr lang="en-US" sz="3200" dirty="0" smtClean="0"/>
              <a:t>19. _________command is used to display all records.  </a:t>
            </a:r>
          </a:p>
          <a:p>
            <a:r>
              <a:rPr lang="en-US" sz="3200" b="1" u="sng" dirty="0" smtClean="0"/>
              <a:t>select</a:t>
            </a:r>
            <a:r>
              <a:rPr lang="en-US" sz="3200" dirty="0" smtClean="0"/>
              <a:t>_</a:t>
            </a:r>
          </a:p>
          <a:p>
            <a:r>
              <a:rPr lang="en-US" sz="3200" dirty="0" smtClean="0"/>
              <a:t>20. __________command is use to edit records.</a:t>
            </a:r>
          </a:p>
          <a:p>
            <a:r>
              <a:rPr lang="en-US" sz="3200" b="1" u="sng" dirty="0" smtClean="0"/>
              <a:t>update</a:t>
            </a:r>
            <a:r>
              <a:rPr lang="en-US" sz="3200" dirty="0" smtClean="0"/>
              <a:t>_ 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2017 new ____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1A</a:t>
            </a:r>
          </a:p>
          <a:p>
            <a:r>
              <a:rPr lang="en-US" dirty="0" smtClean="0"/>
              <a:t>(1) In an E-R Diagram entity represented by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it is represented by rectangle</a:t>
            </a:r>
          </a:p>
          <a:p>
            <a:r>
              <a:rPr lang="en-US" dirty="0" smtClean="0"/>
              <a:t>(2) Which technique is used to decompose data into two</a:t>
            </a:r>
          </a:p>
          <a:p>
            <a:r>
              <a:rPr lang="en-US" dirty="0" smtClean="0"/>
              <a:t>dimensional tables ?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normalization </a:t>
            </a:r>
          </a:p>
          <a:p>
            <a:r>
              <a:rPr lang="en-US" dirty="0" smtClean="0"/>
              <a:t>(3) To communicate with oracle, SQL supports </a:t>
            </a:r>
            <a:r>
              <a:rPr lang="en-US" dirty="0" smtClean="0"/>
              <a:t>different languages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(4) Long Raw data type can hold ______ data.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Binary length up to 2gb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2A</a:t>
            </a:r>
          </a:p>
          <a:p>
            <a:r>
              <a:rPr lang="en-US" dirty="0" smtClean="0"/>
              <a:t>1) Which keyword is used to display uniquely data from any specific column ?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Distinct</a:t>
            </a:r>
          </a:p>
          <a:p>
            <a:r>
              <a:rPr lang="en-US" dirty="0" smtClean="0"/>
              <a:t>(2) Maintaining security and also integrity on any database, then _______ are used.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</a:t>
            </a:r>
            <a:r>
              <a:rPr lang="en-US" dirty="0" smtClean="0"/>
              <a:t>: data integrity</a:t>
            </a:r>
            <a:endParaRPr lang="en-US" dirty="0" smtClean="0"/>
          </a:p>
          <a:p>
            <a:r>
              <a:rPr lang="en-US" dirty="0" smtClean="0"/>
              <a:t>(3) Which constraints is used to establish parent-child</a:t>
            </a:r>
          </a:p>
          <a:p>
            <a:r>
              <a:rPr lang="en-US" dirty="0" smtClean="0"/>
              <a:t>relation between two or more tables ?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foreign key</a:t>
            </a:r>
          </a:p>
          <a:p>
            <a:r>
              <a:rPr lang="en-US" dirty="0" smtClean="0"/>
              <a:t>(4) _______is used to group rows based on distinct values for </a:t>
            </a:r>
            <a:r>
              <a:rPr lang="en-US" dirty="0" err="1" smtClean="0"/>
              <a:t>speciﬁed</a:t>
            </a:r>
            <a:r>
              <a:rPr lang="en-US" dirty="0" smtClean="0"/>
              <a:t> column.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group by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3A</a:t>
            </a:r>
          </a:p>
          <a:p>
            <a:r>
              <a:rPr lang="en-US" dirty="0" smtClean="0"/>
              <a:t>(1) Which lock is a default locking mechanism in oracle?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DML lock</a:t>
            </a:r>
          </a:p>
          <a:p>
            <a:r>
              <a:rPr lang="en-US" dirty="0" smtClean="0"/>
              <a:t>(2) __________index is an entry points to a single row.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B-tree</a:t>
            </a:r>
          </a:p>
          <a:p>
            <a:r>
              <a:rPr lang="en-US" dirty="0" smtClean="0"/>
              <a:t>(3) Which object is specially created for the data security ?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view</a:t>
            </a:r>
          </a:p>
          <a:p>
            <a:r>
              <a:rPr lang="en-US" dirty="0" smtClean="0"/>
              <a:t>(4) _______can generate numeric values.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sequence 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4A</a:t>
            </a:r>
          </a:p>
          <a:p>
            <a:r>
              <a:rPr lang="en-US" dirty="0" smtClean="0"/>
              <a:t>(1) Package is one type of stored programs. (true/false)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</a:t>
            </a:r>
            <a:r>
              <a:rPr lang="en-US" dirty="0" smtClean="0"/>
              <a:t>true</a:t>
            </a:r>
            <a:endParaRPr lang="en-US" dirty="0" smtClean="0"/>
          </a:p>
          <a:p>
            <a:r>
              <a:rPr lang="en-US" dirty="0" smtClean="0"/>
              <a:t>(2) Which trigger executes any action after the triggering statement is executed?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after insert raw </a:t>
            </a:r>
            <a:r>
              <a:rPr lang="en-US" dirty="0" err="1" smtClean="0"/>
              <a:t>lavel</a:t>
            </a:r>
            <a:endParaRPr lang="en-US" dirty="0" smtClean="0"/>
          </a:p>
          <a:p>
            <a:r>
              <a:rPr lang="en-US" dirty="0" smtClean="0"/>
              <a:t>(3) _____ cursor is used into update/delete any record from any table.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implicit cursor</a:t>
            </a:r>
          </a:p>
          <a:p>
            <a:r>
              <a:rPr lang="en-US" dirty="0" smtClean="0"/>
              <a:t>(4) Which data type is also called a user </a:t>
            </a:r>
            <a:r>
              <a:rPr lang="en-US" dirty="0" err="1" smtClean="0"/>
              <a:t>deﬁned</a:t>
            </a:r>
            <a:r>
              <a:rPr lang="en-US" dirty="0" smtClean="0"/>
              <a:t> </a:t>
            </a:r>
            <a:r>
              <a:rPr lang="en-US" dirty="0" err="1" smtClean="0"/>
              <a:t>datatype</a:t>
            </a:r>
            <a:r>
              <a:rPr lang="en-US" dirty="0" smtClean="0"/>
              <a:t> ?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5A</a:t>
            </a:r>
          </a:p>
          <a:p>
            <a:r>
              <a:rPr lang="en-US" dirty="0" smtClean="0"/>
              <a:t>(1) DBWR stands for  _________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Database Writer</a:t>
            </a:r>
          </a:p>
          <a:p>
            <a:r>
              <a:rPr lang="en-US" dirty="0" smtClean="0"/>
              <a:t>(2) Data elements in the database can be </a:t>
            </a:r>
            <a:r>
              <a:rPr lang="en-US" dirty="0" err="1" smtClean="0"/>
              <a:t>modiﬁed</a:t>
            </a:r>
            <a:r>
              <a:rPr lang="en-US" dirty="0" smtClean="0"/>
              <a:t> by</a:t>
            </a:r>
          </a:p>
          <a:p>
            <a:r>
              <a:rPr lang="en-US" dirty="0" smtClean="0"/>
              <a:t>using data dictionary. (True/False)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false</a:t>
            </a:r>
          </a:p>
          <a:p>
            <a:r>
              <a:rPr lang="en-US" dirty="0" smtClean="0"/>
              <a:t>(3) _________</a:t>
            </a:r>
            <a:r>
              <a:rPr lang="en-US" dirty="0" err="1" smtClean="0"/>
              <a:t>ﬁles</a:t>
            </a:r>
            <a:r>
              <a:rPr lang="en-US" dirty="0" smtClean="0"/>
              <a:t> hold the actual data.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</a:t>
            </a:r>
            <a:r>
              <a:rPr lang="en-US" dirty="0" smtClean="0"/>
              <a:t>data</a:t>
            </a:r>
            <a:r>
              <a:rPr lang="en-US" dirty="0" smtClean="0"/>
              <a:t> </a:t>
            </a:r>
            <a:r>
              <a:rPr lang="en-US" dirty="0" smtClean="0"/>
              <a:t>file</a:t>
            </a:r>
          </a:p>
          <a:p>
            <a:r>
              <a:rPr lang="en-US" dirty="0" smtClean="0"/>
              <a:t>(4) Principal scheduler object is the  _____________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2016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(1)What is meaning of Database?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a collection of meaningful data is called database </a:t>
            </a:r>
          </a:p>
          <a:p>
            <a:r>
              <a:rPr lang="en-US" dirty="0" smtClean="0"/>
              <a:t>(2)What is Full Form of SQL?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Structure Query Language</a:t>
            </a:r>
          </a:p>
          <a:p>
            <a:r>
              <a:rPr lang="en-US" dirty="0" smtClean="0"/>
              <a:t>(3) How many character hold in varchar2 data type 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4000 characters</a:t>
            </a:r>
          </a:p>
          <a:p>
            <a:r>
              <a:rPr lang="en-US" dirty="0" smtClean="0"/>
              <a:t>(4) Give the list of pattern matching character use in like operator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‘%</a:t>
            </a:r>
            <a:r>
              <a:rPr lang="en-US" b="1" dirty="0" err="1" smtClean="0"/>
              <a:t>cabc</a:t>
            </a:r>
            <a:r>
              <a:rPr lang="en-US" b="1" dirty="0" smtClean="0"/>
              <a:t>%’, ‘</a:t>
            </a:r>
            <a:r>
              <a:rPr lang="en-US" b="1" dirty="0" err="1" smtClean="0"/>
              <a:t>abc</a:t>
            </a:r>
            <a:r>
              <a:rPr lang="en-US" b="1" dirty="0" smtClean="0"/>
              <a:t>%’, ‘___</a:t>
            </a:r>
            <a:r>
              <a:rPr lang="en-US" b="1" dirty="0" err="1" smtClean="0"/>
              <a:t>abc</a:t>
            </a:r>
            <a:r>
              <a:rPr lang="en-US" b="1" dirty="0" smtClean="0"/>
              <a:t>’</a:t>
            </a:r>
          </a:p>
          <a:p>
            <a:r>
              <a:rPr lang="en-US" dirty="0" smtClean="0"/>
              <a:t>(5) How many Primary key allowed per table 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only one 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(6) Which operator is called Range Searching Operator 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Between is called range searching operator</a:t>
            </a:r>
          </a:p>
          <a:p>
            <a:r>
              <a:rPr lang="en-US" dirty="0" smtClean="0"/>
              <a:t>(7) In which oracle database object member records are stored physically near parent record ?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</a:t>
            </a:r>
            <a:r>
              <a:rPr lang="en-US" dirty="0" smtClean="0"/>
              <a:t>cluster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(8) Which oracle database object is recent copy of a table from database?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</a:t>
            </a:r>
            <a:r>
              <a:rPr lang="en-US" b="1" dirty="0" smtClean="0"/>
              <a:t>snapshot</a:t>
            </a:r>
            <a:endParaRPr lang="en-US" b="1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89567"/>
            <a:ext cx="4343400" cy="45720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(9) Which transaction control statements undo all data changes in the current transaction?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rollback</a:t>
            </a:r>
          </a:p>
          <a:p>
            <a:r>
              <a:rPr lang="en-US" dirty="0" smtClean="0"/>
              <a:t>(10) What is Full Form of DCL?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Data Control Language</a:t>
            </a:r>
          </a:p>
          <a:p>
            <a:r>
              <a:rPr lang="en-US" dirty="0" smtClean="0"/>
              <a:t>(11) Which locks are oracle uses to protect its internal </a:t>
            </a:r>
            <a:r>
              <a:rPr lang="en-US" dirty="0" smtClean="0"/>
              <a:t>data structure ?</a:t>
            </a:r>
            <a:endParaRPr lang="en-US" dirty="0" smtClean="0"/>
          </a:p>
          <a:p>
            <a:r>
              <a:rPr lang="en-US" b="1" dirty="0" err="1" smtClean="0"/>
              <a:t>Ans</a:t>
            </a:r>
            <a:r>
              <a:rPr lang="en-US" b="1" dirty="0" smtClean="0"/>
              <a:t> : Internal locks and </a:t>
            </a:r>
            <a:r>
              <a:rPr lang="en-US" b="1" dirty="0" smtClean="0"/>
              <a:t>latches/DDL Locks</a:t>
            </a:r>
            <a:endParaRPr lang="en-US" b="1" dirty="0" smtClean="0"/>
          </a:p>
          <a:p>
            <a:r>
              <a:rPr lang="en-US" dirty="0" smtClean="0"/>
              <a:t>(12) Which type of lock occurs when you have two sessions, each of which is holding a resource that the other wants</a:t>
            </a:r>
            <a:r>
              <a:rPr lang="en-US" dirty="0" smtClean="0"/>
              <a:t>?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: Deadlocks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(13) What is the Full Form of PL/SQL 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Procedural Language/Structure Query Language</a:t>
            </a:r>
          </a:p>
          <a:p>
            <a:r>
              <a:rPr lang="en-US" dirty="0" smtClean="0"/>
              <a:t>(14) How to define comments in PL/SQL 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- -</a:t>
            </a:r>
          </a:p>
          <a:p>
            <a:r>
              <a:rPr lang="en-US" dirty="0" smtClean="0"/>
              <a:t>(15) An object which holds other object is called ....... ..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</a:t>
            </a:r>
            <a:r>
              <a:rPr lang="en-US" b="1" dirty="0" smtClean="0"/>
              <a:t>:composite/container object</a:t>
            </a:r>
            <a:endParaRPr lang="en-US" b="1" dirty="0" smtClean="0"/>
          </a:p>
          <a:p>
            <a:r>
              <a:rPr lang="en-US" dirty="0" smtClean="0"/>
              <a:t>(16) Which trigger executes the trigger action after the triggering statement is executed?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900" b="1" dirty="0" err="1" smtClean="0"/>
              <a:t>Ans</a:t>
            </a:r>
            <a:r>
              <a:rPr lang="en-US" sz="2900" b="1" dirty="0" smtClean="0"/>
              <a:t> : after insert row level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(17) What is Full Form of SGA?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System Global Area</a:t>
            </a:r>
          </a:p>
          <a:p>
            <a:r>
              <a:rPr lang="en-US" dirty="0" smtClean="0"/>
              <a:t>(18) A database is divided into one or more logical storage unit is called .......... .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normalization</a:t>
            </a:r>
          </a:p>
          <a:p>
            <a:r>
              <a:rPr lang="en-US" dirty="0" smtClean="0"/>
              <a:t>(19) Which backup have the ability to give you recovery only until the time of backup 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Physical Backup</a:t>
            </a:r>
          </a:p>
          <a:p>
            <a:r>
              <a:rPr lang="en-US" dirty="0" smtClean="0"/>
              <a:t>(20) Which process shared server receives request from client and place in request queue ?</a:t>
            </a:r>
          </a:p>
          <a:p>
            <a:r>
              <a:rPr lang="en-US" b="1" dirty="0" err="1" smtClean="0"/>
              <a:t>Ans</a:t>
            </a:r>
            <a:r>
              <a:rPr lang="en-US" b="1" dirty="0" smtClean="0"/>
              <a:t> : Server Process 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0000" lnSpcReduction="20000"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2014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533400" y="1437167"/>
            <a:ext cx="3886200" cy="5420833"/>
          </a:xfrm>
        </p:spPr>
        <p:txBody>
          <a:bodyPr>
            <a:noAutofit/>
          </a:bodyPr>
          <a:lstStyle/>
          <a:p>
            <a:r>
              <a:rPr lang="en-US" sz="1400" dirty="0" smtClean="0"/>
              <a:t>(1) Which of the following are Data Models ?  </a:t>
            </a:r>
          </a:p>
          <a:p>
            <a:r>
              <a:rPr lang="en-US" sz="1400" dirty="0" smtClean="0"/>
              <a:t>(a) The Hierarchical Model </a:t>
            </a:r>
          </a:p>
          <a:p>
            <a:r>
              <a:rPr lang="en-US" sz="1400" dirty="0" smtClean="0"/>
              <a:t>(b) The Network Model  </a:t>
            </a:r>
          </a:p>
          <a:p>
            <a:r>
              <a:rPr lang="en-US" sz="1400" dirty="0" smtClean="0"/>
              <a:t>(c) The Relational Model	  </a:t>
            </a:r>
          </a:p>
          <a:p>
            <a:r>
              <a:rPr lang="en-US" sz="1400" dirty="0" smtClean="0"/>
              <a:t>(d) All  </a:t>
            </a:r>
          </a:p>
          <a:p>
            <a:r>
              <a:rPr lang="en-US" sz="1400" dirty="0" smtClean="0"/>
              <a:t> </a:t>
            </a:r>
          </a:p>
          <a:p>
            <a:r>
              <a:rPr lang="en-US" sz="1400" dirty="0" smtClean="0"/>
              <a:t>(2) In E-R diagram is used to represent relationship between entities.  </a:t>
            </a:r>
          </a:p>
          <a:p>
            <a:r>
              <a:rPr lang="en-US" sz="1400" dirty="0" smtClean="0"/>
              <a:t>(a) Rectangle    </a:t>
            </a:r>
          </a:p>
          <a:p>
            <a:r>
              <a:rPr lang="en-US" sz="1400" dirty="0" smtClean="0"/>
              <a:t>(b) Circle   </a:t>
            </a:r>
          </a:p>
          <a:p>
            <a:r>
              <a:rPr lang="en-US" sz="1400" dirty="0" smtClean="0"/>
              <a:t>(c) Diamond    </a:t>
            </a:r>
          </a:p>
          <a:p>
            <a:r>
              <a:rPr lang="en-US" sz="1400" dirty="0" smtClean="0"/>
              <a:t>(d) Oval  </a:t>
            </a:r>
          </a:p>
          <a:p>
            <a:r>
              <a:rPr lang="en-US" sz="1400" dirty="0" smtClean="0"/>
              <a:t> </a:t>
            </a:r>
          </a:p>
          <a:p>
            <a:r>
              <a:rPr lang="en-US" sz="1400" dirty="0" smtClean="0"/>
              <a:t>(3) SQL means  </a:t>
            </a:r>
          </a:p>
          <a:p>
            <a:r>
              <a:rPr lang="en-US" sz="1400" dirty="0" smtClean="0"/>
              <a:t>(a) System Query Language 	</a:t>
            </a:r>
          </a:p>
          <a:p>
            <a:r>
              <a:rPr lang="en-US" sz="1400" dirty="0" smtClean="0"/>
              <a:t>(b) Structured Query Language  </a:t>
            </a:r>
          </a:p>
          <a:p>
            <a:r>
              <a:rPr lang="en-US" sz="1400" dirty="0" smtClean="0"/>
              <a:t>(c) System Questioner Language	 </a:t>
            </a:r>
          </a:p>
          <a:p>
            <a:r>
              <a:rPr lang="en-US" sz="1400" dirty="0" smtClean="0"/>
              <a:t>(d) None  </a:t>
            </a:r>
          </a:p>
          <a:p>
            <a:r>
              <a:rPr lang="en-US" sz="1400" dirty="0" smtClean="0"/>
              <a:t> 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"/>
          </p:nvPr>
        </p:nvSpPr>
        <p:spPr>
          <a:xfrm>
            <a:off x="4800600" y="1371600"/>
            <a:ext cx="4070500" cy="5268434"/>
          </a:xfrm>
        </p:spPr>
        <p:txBody>
          <a:bodyPr>
            <a:noAutofit/>
          </a:bodyPr>
          <a:lstStyle/>
          <a:p>
            <a:r>
              <a:rPr lang="en-US" sz="1400" dirty="0" smtClean="0"/>
              <a:t>(4) ____is not a Database Management System.  </a:t>
            </a:r>
          </a:p>
          <a:p>
            <a:r>
              <a:rPr lang="en-US" sz="1400" dirty="0" smtClean="0"/>
              <a:t>(a) SQL   </a:t>
            </a:r>
          </a:p>
          <a:p>
            <a:r>
              <a:rPr lang="en-US" sz="1400" dirty="0" smtClean="0"/>
              <a:t>(b) Oracle  </a:t>
            </a:r>
          </a:p>
          <a:p>
            <a:r>
              <a:rPr lang="en-US" sz="1400" dirty="0" smtClean="0"/>
              <a:t>(c) FoxPro   </a:t>
            </a:r>
          </a:p>
          <a:p>
            <a:r>
              <a:rPr lang="en-US" sz="1400" dirty="0" smtClean="0"/>
              <a:t>(d) Both (a) and  (c)</a:t>
            </a:r>
          </a:p>
          <a:p>
            <a:r>
              <a:rPr lang="en-US" sz="1400" dirty="0" smtClean="0"/>
              <a:t> </a:t>
            </a:r>
          </a:p>
          <a:p>
            <a:r>
              <a:rPr lang="en-US" sz="1400" dirty="0" smtClean="0"/>
              <a:t>(5) Which of the following is not an SQL command type ?  </a:t>
            </a:r>
          </a:p>
          <a:p>
            <a:r>
              <a:rPr lang="en-US" sz="1400" dirty="0" smtClean="0"/>
              <a:t>(a) Transactional control commands   </a:t>
            </a:r>
          </a:p>
          <a:p>
            <a:r>
              <a:rPr lang="en-US" sz="1400" dirty="0" smtClean="0"/>
              <a:t>(b) Data Definition language  </a:t>
            </a:r>
          </a:p>
          <a:p>
            <a:r>
              <a:rPr lang="en-US" sz="1400" dirty="0" smtClean="0"/>
              <a:t>(c) Decision Control Language      </a:t>
            </a:r>
          </a:p>
          <a:p>
            <a:r>
              <a:rPr lang="en-US" sz="1400" dirty="0" smtClean="0"/>
              <a:t>(d) None  </a:t>
            </a:r>
          </a:p>
          <a:p>
            <a:r>
              <a:rPr lang="en-US" sz="1400" dirty="0" smtClean="0"/>
              <a:t> </a:t>
            </a:r>
          </a:p>
          <a:p>
            <a:r>
              <a:rPr lang="en-US" sz="1400" dirty="0" smtClean="0"/>
              <a:t>(6) The category of Revoke command is  </a:t>
            </a:r>
          </a:p>
          <a:p>
            <a:r>
              <a:rPr lang="en-US" sz="1400" dirty="0" smtClean="0"/>
              <a:t>(a) DML   </a:t>
            </a:r>
          </a:p>
          <a:p>
            <a:r>
              <a:rPr lang="en-US" sz="1400" dirty="0" smtClean="0"/>
              <a:t>(b) TCL   </a:t>
            </a:r>
          </a:p>
          <a:p>
            <a:r>
              <a:rPr lang="en-US" sz="1400" dirty="0" smtClean="0"/>
              <a:t>(c) DDL   </a:t>
            </a:r>
          </a:p>
          <a:p>
            <a:r>
              <a:rPr lang="en-US" sz="1400" dirty="0" smtClean="0"/>
              <a:t>(d) DCL  </a:t>
            </a:r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1" dur="indefinite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7" dur="indefinite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762000"/>
            <a:ext cx="4495800" cy="5867400"/>
          </a:xfrm>
        </p:spPr>
        <p:txBody>
          <a:bodyPr>
            <a:noAutofit/>
          </a:bodyPr>
          <a:lstStyle/>
          <a:p>
            <a:r>
              <a:rPr lang="en-US" sz="1400" dirty="0" smtClean="0"/>
              <a:t>(7) The ORDER BY clause can only be used in queries.  </a:t>
            </a:r>
          </a:p>
          <a:p>
            <a:r>
              <a:rPr lang="en-US" sz="1400" dirty="0" smtClean="0"/>
              <a:t>(a) SELECT   </a:t>
            </a:r>
          </a:p>
          <a:p>
            <a:r>
              <a:rPr lang="en-US" sz="1400" dirty="0" smtClean="0"/>
              <a:t>b) INSERT   </a:t>
            </a:r>
          </a:p>
          <a:p>
            <a:r>
              <a:rPr lang="en-US" sz="1400" dirty="0" smtClean="0"/>
              <a:t>(c) GROUP BY   </a:t>
            </a:r>
          </a:p>
          <a:p>
            <a:r>
              <a:rPr lang="en-US" sz="1400" dirty="0" smtClean="0"/>
              <a:t>(d) All  </a:t>
            </a:r>
          </a:p>
          <a:p>
            <a:endParaRPr lang="en-US" sz="1400" dirty="0" smtClean="0"/>
          </a:p>
          <a:p>
            <a:r>
              <a:rPr lang="en-US" sz="1400" dirty="0" smtClean="0"/>
              <a:t>(8) ___is a join with a join condition containing an equality operator (=)  </a:t>
            </a:r>
          </a:p>
          <a:p>
            <a:r>
              <a:rPr lang="en-US" sz="1400" dirty="0" smtClean="0"/>
              <a:t>(a) Equijoins   </a:t>
            </a:r>
          </a:p>
          <a:p>
            <a:r>
              <a:rPr lang="en-US" sz="1400" dirty="0" smtClean="0"/>
              <a:t>(b) Cartesian  </a:t>
            </a:r>
          </a:p>
          <a:p>
            <a:r>
              <a:rPr lang="en-US" sz="1400" dirty="0" smtClean="0"/>
              <a:t>(c) Both</a:t>
            </a:r>
          </a:p>
          <a:p>
            <a:r>
              <a:rPr lang="en-US" sz="1400" dirty="0" smtClean="0"/>
              <a:t>( d) None  </a:t>
            </a:r>
          </a:p>
          <a:p>
            <a:endParaRPr lang="en-US" sz="1400" dirty="0" smtClean="0"/>
          </a:p>
          <a:p>
            <a:r>
              <a:rPr lang="en-US" sz="1400" dirty="0" smtClean="0"/>
              <a:t>(9) Which of the following are false about primary key?  </a:t>
            </a:r>
          </a:p>
          <a:p>
            <a:r>
              <a:rPr lang="en-US" sz="1400" dirty="0" smtClean="0"/>
              <a:t>(a) Contains null values 	</a:t>
            </a:r>
          </a:p>
          <a:p>
            <a:r>
              <a:rPr lang="en-US" sz="1400" dirty="0" smtClean="0"/>
              <a:t>(b) Contain duplicate values  </a:t>
            </a:r>
          </a:p>
          <a:p>
            <a:r>
              <a:rPr lang="en-US" sz="1400" dirty="0" smtClean="0"/>
              <a:t>(c) Both (a) and (b)	 </a:t>
            </a:r>
          </a:p>
          <a:p>
            <a:r>
              <a:rPr lang="en-US" sz="1400" dirty="0" smtClean="0"/>
              <a:t>(d) None  </a:t>
            </a:r>
          </a:p>
          <a:p>
            <a:endParaRPr lang="en-US"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44901" y="685800"/>
            <a:ext cx="4299099" cy="6172200"/>
          </a:xfrm>
        </p:spPr>
        <p:txBody>
          <a:bodyPr>
            <a:noAutofit/>
          </a:bodyPr>
          <a:lstStyle/>
          <a:p>
            <a:r>
              <a:rPr lang="en-US" sz="1400" dirty="0" smtClean="0"/>
              <a:t>(l0) ____contain a pointer that keeps track of current row being accessed,   which enables your program to process the rows at a time.  </a:t>
            </a:r>
          </a:p>
          <a:p>
            <a:r>
              <a:rPr lang="en-US" sz="1400" dirty="0" smtClean="0"/>
              <a:t>(a) Pointer    </a:t>
            </a:r>
          </a:p>
          <a:p>
            <a:r>
              <a:rPr lang="en-US" sz="1400" dirty="0" smtClean="0"/>
              <a:t>(b) Tracker  </a:t>
            </a:r>
          </a:p>
          <a:p>
            <a:r>
              <a:rPr lang="en-US" sz="1400" dirty="0" smtClean="0"/>
              <a:t>(c) Cursor   </a:t>
            </a:r>
          </a:p>
          <a:p>
            <a:r>
              <a:rPr lang="en-US" sz="1400" dirty="0" smtClean="0"/>
              <a:t>(d) Trigger  </a:t>
            </a:r>
          </a:p>
          <a:p>
            <a:endParaRPr lang="en-US" sz="1400" dirty="0" smtClean="0"/>
          </a:p>
          <a:p>
            <a:r>
              <a:rPr lang="en-US" sz="1400" dirty="0" smtClean="0"/>
              <a:t>(11) Which of the following are forms of SQL ?  </a:t>
            </a:r>
          </a:p>
          <a:p>
            <a:r>
              <a:rPr lang="en-US" sz="1400" dirty="0" smtClean="0"/>
              <a:t>(a) Interactive    </a:t>
            </a:r>
          </a:p>
          <a:p>
            <a:r>
              <a:rPr lang="en-US" sz="1400" dirty="0" smtClean="0"/>
              <a:t>(b) Embedded   </a:t>
            </a:r>
          </a:p>
          <a:p>
            <a:r>
              <a:rPr lang="en-US" sz="1400" dirty="0" smtClean="0"/>
              <a:t>(c) Both   </a:t>
            </a:r>
          </a:p>
          <a:p>
            <a:r>
              <a:rPr lang="en-US" sz="1400" dirty="0" smtClean="0"/>
              <a:t>(d) None  </a:t>
            </a:r>
          </a:p>
          <a:p>
            <a:endParaRPr lang="en-US" sz="1400" dirty="0" smtClean="0"/>
          </a:p>
          <a:p>
            <a:r>
              <a:rPr lang="en-US" sz="1400" dirty="0" smtClean="0"/>
              <a:t>(12)____ command is used for removing a table and all its data from the database.  </a:t>
            </a:r>
          </a:p>
          <a:p>
            <a:r>
              <a:rPr lang="en-US" sz="1400" dirty="0" smtClean="0"/>
              <a:t>(a) Create    </a:t>
            </a:r>
          </a:p>
          <a:p>
            <a:r>
              <a:rPr lang="en-US" sz="1400" dirty="0" smtClean="0"/>
              <a:t>(b) Alter table   </a:t>
            </a:r>
          </a:p>
          <a:p>
            <a:r>
              <a:rPr lang="en-US" sz="1400" dirty="0" smtClean="0"/>
              <a:t>(c) Drop table    </a:t>
            </a:r>
          </a:p>
          <a:p>
            <a:r>
              <a:rPr lang="en-US" sz="1400" dirty="0" smtClean="0"/>
              <a:t>(d) None  </a:t>
            </a:r>
          </a:p>
          <a:p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1" dur="indefinite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228600"/>
            <a:ext cx="4191000" cy="6324600"/>
          </a:xfrm>
        </p:spPr>
        <p:txBody>
          <a:bodyPr>
            <a:noAutofit/>
          </a:bodyPr>
          <a:lstStyle/>
          <a:p>
            <a:r>
              <a:rPr lang="en-US" sz="1400" dirty="0" smtClean="0"/>
              <a:t>(13) Tables and indexes that are data of logical database structure that are stored physically in the form of _____  </a:t>
            </a:r>
          </a:p>
          <a:p>
            <a:r>
              <a:rPr lang="en-US" sz="1400" dirty="0" smtClean="0"/>
              <a:t>(a) Data files   </a:t>
            </a:r>
          </a:p>
          <a:p>
            <a:r>
              <a:rPr lang="en-US" sz="1400" dirty="0" smtClean="0"/>
              <a:t> (b) Control files   </a:t>
            </a:r>
          </a:p>
          <a:p>
            <a:r>
              <a:rPr lang="en-US" sz="1400" dirty="0" smtClean="0"/>
              <a:t>(c) Online Redo log files    </a:t>
            </a:r>
          </a:p>
          <a:p>
            <a:r>
              <a:rPr lang="en-US" sz="1400" dirty="0" smtClean="0"/>
              <a:t>(d) All  </a:t>
            </a:r>
          </a:p>
          <a:p>
            <a:r>
              <a:rPr lang="en-US" sz="1400" dirty="0" smtClean="0"/>
              <a:t> </a:t>
            </a:r>
          </a:p>
          <a:p>
            <a:r>
              <a:rPr lang="en-US" sz="1400" dirty="0" smtClean="0"/>
              <a:t>(14) Data dictionary kept in  </a:t>
            </a:r>
          </a:p>
          <a:p>
            <a:r>
              <a:rPr lang="en-US" sz="1400" dirty="0" smtClean="0"/>
              <a:t>(a) Stack space    </a:t>
            </a:r>
          </a:p>
          <a:p>
            <a:r>
              <a:rPr lang="en-US" sz="1400" dirty="0" smtClean="0"/>
              <a:t>(b) SYSTEM </a:t>
            </a:r>
            <a:r>
              <a:rPr lang="en-US" sz="1400" dirty="0" err="1" smtClean="0"/>
              <a:t>tablespace</a:t>
            </a:r>
            <a:r>
              <a:rPr lang="en-US" sz="1400" dirty="0" smtClean="0"/>
              <a:t>   </a:t>
            </a:r>
          </a:p>
          <a:p>
            <a:r>
              <a:rPr lang="en-US" sz="1400" dirty="0" smtClean="0"/>
              <a:t>(c) </a:t>
            </a:r>
            <a:r>
              <a:rPr lang="en-US" sz="1400" dirty="0" err="1" smtClean="0"/>
              <a:t>Datafile</a:t>
            </a:r>
            <a:r>
              <a:rPr lang="en-US" sz="1400" dirty="0" smtClean="0"/>
              <a:t>    </a:t>
            </a:r>
          </a:p>
          <a:p>
            <a:r>
              <a:rPr lang="en-US" sz="1400" dirty="0" smtClean="0"/>
              <a:t>(d) None  </a:t>
            </a:r>
          </a:p>
          <a:p>
            <a:r>
              <a:rPr lang="en-US" sz="1400" dirty="0" smtClean="0"/>
              <a:t> </a:t>
            </a:r>
          </a:p>
          <a:p>
            <a:r>
              <a:rPr lang="en-US" sz="1400" dirty="0" smtClean="0"/>
              <a:t>(15) The_______ statement makes permanent any changes made to the database during the current transaction.  </a:t>
            </a:r>
          </a:p>
          <a:p>
            <a:r>
              <a:rPr lang="en-US" sz="1400" dirty="0" smtClean="0"/>
              <a:t>(a) COMMIT    </a:t>
            </a:r>
          </a:p>
          <a:p>
            <a:r>
              <a:rPr lang="en-US" sz="1400" dirty="0" smtClean="0"/>
              <a:t>(b) ROLLBACK   </a:t>
            </a:r>
          </a:p>
          <a:p>
            <a:r>
              <a:rPr lang="en-US" sz="1400" dirty="0" smtClean="0"/>
              <a:t>(c) SAVEPOINT    </a:t>
            </a:r>
          </a:p>
          <a:p>
            <a:r>
              <a:rPr lang="en-US" sz="1400" dirty="0" smtClean="0"/>
              <a:t>(d) Both (a) and (c)  </a:t>
            </a:r>
          </a:p>
          <a:p>
            <a:endParaRPr lang="en-US"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44901" y="304800"/>
            <a:ext cx="3886200" cy="5856767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(16) Which type of index should be used on a fact table ?  </a:t>
            </a:r>
          </a:p>
          <a:p>
            <a:r>
              <a:rPr lang="en-US" dirty="0" smtClean="0"/>
              <a:t>(a) A binary index </a:t>
            </a:r>
          </a:p>
          <a:p>
            <a:r>
              <a:rPr lang="en-US" dirty="0" smtClean="0"/>
              <a:t>(b) A bitmap index  </a:t>
            </a:r>
          </a:p>
          <a:p>
            <a:r>
              <a:rPr lang="en-US" dirty="0" smtClean="0"/>
              <a:t>(c) A metadata index </a:t>
            </a:r>
          </a:p>
          <a:p>
            <a:r>
              <a:rPr lang="en-US" dirty="0" smtClean="0"/>
              <a:t>d) A database schema index  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(17) The ____ records all changes made to data.  </a:t>
            </a:r>
          </a:p>
          <a:p>
            <a:r>
              <a:rPr lang="en-US" dirty="0" smtClean="0"/>
              <a:t>(a) Redo log    </a:t>
            </a:r>
          </a:p>
          <a:p>
            <a:r>
              <a:rPr lang="en-US" dirty="0" smtClean="0"/>
              <a:t>(b) Archive log   </a:t>
            </a:r>
          </a:p>
          <a:p>
            <a:r>
              <a:rPr lang="en-US" dirty="0" smtClean="0"/>
              <a:t>(c) Data file    </a:t>
            </a:r>
          </a:p>
          <a:p>
            <a:r>
              <a:rPr lang="en-US" dirty="0" smtClean="0"/>
              <a:t>(d) none  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(18) Which of the following object types below cannot be replicated ?</a:t>
            </a:r>
          </a:p>
          <a:p>
            <a:r>
              <a:rPr lang="en-US" dirty="0" smtClean="0"/>
              <a:t>(a) Data    </a:t>
            </a:r>
          </a:p>
          <a:p>
            <a:r>
              <a:rPr lang="en-US" dirty="0" smtClean="0"/>
              <a:t>(b) Trigger   </a:t>
            </a:r>
          </a:p>
          <a:p>
            <a:r>
              <a:rPr lang="en-US" dirty="0" smtClean="0"/>
              <a:t>(c) View    </a:t>
            </a:r>
          </a:p>
          <a:p>
            <a:r>
              <a:rPr lang="en-US" dirty="0" smtClean="0"/>
              <a:t>(d) Sequence 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1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37" dur="indefinite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(19) The components of SGA are  </a:t>
            </a:r>
          </a:p>
          <a:p>
            <a:r>
              <a:rPr lang="en-US" dirty="0" smtClean="0"/>
              <a:t>(a) Shared pool    </a:t>
            </a:r>
          </a:p>
          <a:p>
            <a:r>
              <a:rPr lang="en-US" dirty="0" smtClean="0"/>
              <a:t>(b) Database buffers   </a:t>
            </a:r>
          </a:p>
          <a:p>
            <a:r>
              <a:rPr lang="en-US" dirty="0" smtClean="0"/>
              <a:t>(c) Redo log buffer   </a:t>
            </a:r>
          </a:p>
          <a:p>
            <a:r>
              <a:rPr lang="en-US" dirty="0" smtClean="0"/>
              <a:t>(d) All  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(20) Oracle creates an index for the______ in the snapshot base table.  </a:t>
            </a:r>
          </a:p>
          <a:p>
            <a:r>
              <a:rPr lang="en-US" dirty="0" smtClean="0"/>
              <a:t>(a) Primary key    </a:t>
            </a:r>
          </a:p>
          <a:p>
            <a:r>
              <a:rPr lang="en-US" dirty="0" smtClean="0"/>
              <a:t>(b) Foreign key   </a:t>
            </a:r>
          </a:p>
          <a:p>
            <a:r>
              <a:rPr lang="en-US" dirty="0" smtClean="0"/>
              <a:t>(c) Both (a) and (b) </a:t>
            </a:r>
          </a:p>
          <a:p>
            <a:r>
              <a:rPr lang="en-US" dirty="0" smtClean="0"/>
              <a:t>(d) None  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0000" lnSpcReduction="20000"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2015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1 Which of the following satisfy all 12 rules for ideal DBMS?</a:t>
            </a:r>
          </a:p>
          <a:p>
            <a:r>
              <a:rPr lang="en-US" dirty="0" smtClean="0"/>
              <a:t>A. Oracle </a:t>
            </a:r>
          </a:p>
          <a:p>
            <a:r>
              <a:rPr lang="en-US" dirty="0" smtClean="0"/>
              <a:t>B. SQL Server</a:t>
            </a:r>
          </a:p>
          <a:p>
            <a:r>
              <a:rPr lang="en-US" dirty="0" smtClean="0"/>
              <a:t>C. Access </a:t>
            </a:r>
          </a:p>
          <a:p>
            <a:r>
              <a:rPr lang="en-US" dirty="0" smtClean="0"/>
              <a:t>D. None of these</a:t>
            </a:r>
          </a:p>
          <a:p>
            <a:endParaRPr lang="en-US" dirty="0" smtClean="0"/>
          </a:p>
          <a:p>
            <a:r>
              <a:rPr lang="en-US" dirty="0" smtClean="0"/>
              <a:t>2. Normalized is used __.</a:t>
            </a:r>
          </a:p>
          <a:p>
            <a:r>
              <a:rPr lang="en-US" dirty="0" smtClean="0"/>
              <a:t>A. for data protection </a:t>
            </a:r>
          </a:p>
          <a:p>
            <a:r>
              <a:rPr lang="en-US" dirty="0" smtClean="0"/>
              <a:t>B. to minimize    data redundancy</a:t>
            </a:r>
          </a:p>
          <a:p>
            <a:r>
              <a:rPr lang="en-US" dirty="0" smtClean="0"/>
              <a:t>C. for data distribution </a:t>
            </a:r>
          </a:p>
          <a:p>
            <a:r>
              <a:rPr lang="en-US" dirty="0" smtClean="0"/>
              <a:t>D. None of these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3. A table must have primary key.</a:t>
            </a:r>
          </a:p>
          <a:p>
            <a:r>
              <a:rPr lang="en-US" dirty="0" smtClean="0"/>
              <a:t>A. True</a:t>
            </a:r>
          </a:p>
          <a:p>
            <a:r>
              <a:rPr lang="en-US" dirty="0" smtClean="0"/>
              <a:t> B. False</a:t>
            </a:r>
          </a:p>
          <a:p>
            <a:r>
              <a:rPr lang="en-US" dirty="0" smtClean="0"/>
              <a:t>C. cannot say </a:t>
            </a:r>
          </a:p>
          <a:p>
            <a:r>
              <a:rPr lang="en-US" dirty="0" smtClean="0"/>
              <a:t>D. None of these</a:t>
            </a:r>
          </a:p>
          <a:p>
            <a:endParaRPr lang="en-US" dirty="0" smtClean="0"/>
          </a:p>
          <a:p>
            <a:r>
              <a:rPr lang="en-US" dirty="0" smtClean="0"/>
              <a:t>4. The query is processed by .</a:t>
            </a:r>
          </a:p>
          <a:p>
            <a:r>
              <a:rPr lang="en-US" dirty="0" smtClean="0"/>
              <a:t>A. client </a:t>
            </a:r>
          </a:p>
          <a:p>
            <a:r>
              <a:rPr lang="en-US" dirty="0" smtClean="0"/>
              <a:t>B. server </a:t>
            </a:r>
          </a:p>
          <a:p>
            <a:r>
              <a:rPr lang="en-US" dirty="0" smtClean="0"/>
              <a:t>C. network </a:t>
            </a:r>
          </a:p>
          <a:p>
            <a:r>
              <a:rPr lang="en-US" dirty="0" smtClean="0"/>
              <a:t>D. All of above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5 . To remove duplicate rows keyword is used. .</a:t>
            </a:r>
          </a:p>
          <a:p>
            <a:r>
              <a:rPr lang="en-US" dirty="0" smtClean="0"/>
              <a:t>A. UNIQUE </a:t>
            </a:r>
          </a:p>
          <a:p>
            <a:r>
              <a:rPr lang="en-US" dirty="0" smtClean="0"/>
              <a:t>B. GROUP </a:t>
            </a:r>
          </a:p>
          <a:p>
            <a:r>
              <a:rPr lang="en-US" dirty="0" smtClean="0"/>
              <a:t>C. ORDER BY </a:t>
            </a:r>
          </a:p>
          <a:p>
            <a:r>
              <a:rPr lang="en-US" dirty="0" smtClean="0"/>
              <a:t>D. DISTINCT</a:t>
            </a:r>
          </a:p>
          <a:p>
            <a:endParaRPr lang="en-US" dirty="0" smtClean="0"/>
          </a:p>
          <a:p>
            <a:r>
              <a:rPr lang="en-US" dirty="0" smtClean="0"/>
              <a:t>6. Which of the following is an aggregate function?</a:t>
            </a:r>
          </a:p>
          <a:p>
            <a:r>
              <a:rPr lang="en-US" dirty="0" smtClean="0"/>
              <a:t>A. Min </a:t>
            </a:r>
          </a:p>
          <a:p>
            <a:r>
              <a:rPr lang="en-US" dirty="0" smtClean="0"/>
              <a:t>B. Count </a:t>
            </a:r>
          </a:p>
          <a:p>
            <a:r>
              <a:rPr lang="en-US" dirty="0" smtClean="0"/>
              <a:t>C. Sum </a:t>
            </a:r>
          </a:p>
          <a:p>
            <a:r>
              <a:rPr lang="en-US" dirty="0" smtClean="0"/>
              <a:t>D. All of above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7. Which is DML Statement?</a:t>
            </a:r>
          </a:p>
          <a:p>
            <a:r>
              <a:rPr lang="en-US" dirty="0" smtClean="0"/>
              <a:t>A. </a:t>
            </a:r>
            <a:r>
              <a:rPr lang="en-US" dirty="0" err="1" smtClean="0"/>
              <a:t>Create'User</a:t>
            </a:r>
            <a:r>
              <a:rPr lang="en-US" dirty="0" smtClean="0"/>
              <a:t> </a:t>
            </a:r>
          </a:p>
          <a:p>
            <a:r>
              <a:rPr lang="en-US" dirty="0" smtClean="0"/>
              <a:t>B. Create Table </a:t>
            </a:r>
          </a:p>
          <a:p>
            <a:r>
              <a:rPr lang="en-US" dirty="0" smtClean="0"/>
              <a:t>C. Update </a:t>
            </a:r>
          </a:p>
          <a:p>
            <a:r>
              <a:rPr lang="en-US" dirty="0" smtClean="0"/>
              <a:t>D. Create Database</a:t>
            </a:r>
          </a:p>
          <a:p>
            <a:endParaRPr lang="en-US" dirty="0" smtClean="0"/>
          </a:p>
          <a:p>
            <a:r>
              <a:rPr lang="en-US" dirty="0" smtClean="0"/>
              <a:t>8. </a:t>
            </a:r>
            <a:r>
              <a:rPr lang="en-US" dirty="0" err="1" smtClean="0"/>
              <a:t>Innerjoin</a:t>
            </a:r>
            <a:r>
              <a:rPr lang="en-US" dirty="0" smtClean="0"/>
              <a:t> </a:t>
            </a:r>
            <a:r>
              <a:rPr lang="en-US" dirty="0" err="1" smtClean="0"/>
              <a:t>retums</a:t>
            </a:r>
            <a:r>
              <a:rPr lang="en-US" dirty="0" smtClean="0"/>
              <a:t>______ rows.</a:t>
            </a:r>
          </a:p>
          <a:p>
            <a:r>
              <a:rPr lang="en-US" dirty="0" smtClean="0"/>
              <a:t>A. Common </a:t>
            </a:r>
          </a:p>
          <a:p>
            <a:r>
              <a:rPr lang="en-US" dirty="0" smtClean="0"/>
              <a:t>B. Different </a:t>
            </a:r>
          </a:p>
          <a:p>
            <a:r>
              <a:rPr lang="en-US" dirty="0" smtClean="0"/>
              <a:t>C. Duplicate </a:t>
            </a:r>
          </a:p>
          <a:p>
            <a:r>
              <a:rPr lang="en-US" dirty="0" smtClean="0"/>
              <a:t>D. NULL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9. The symbol of concatenation operator is .</a:t>
            </a:r>
          </a:p>
          <a:p>
            <a:r>
              <a:rPr lang="en-US" dirty="0" smtClean="0"/>
              <a:t>A. </a:t>
            </a:r>
            <a:r>
              <a:rPr lang="en-US" dirty="0" err="1" smtClean="0"/>
              <a:t>ll</a:t>
            </a:r>
            <a:r>
              <a:rPr lang="en-US" dirty="0" smtClean="0"/>
              <a:t> </a:t>
            </a:r>
          </a:p>
          <a:p>
            <a:r>
              <a:rPr lang="en-US" dirty="0" smtClean="0"/>
              <a:t>B. + </a:t>
            </a:r>
          </a:p>
          <a:p>
            <a:r>
              <a:rPr lang="en-US" dirty="0" smtClean="0"/>
              <a:t>C. @ </a:t>
            </a:r>
          </a:p>
          <a:p>
            <a:r>
              <a:rPr lang="en-US" dirty="0" smtClean="0"/>
              <a:t>D. #</a:t>
            </a:r>
          </a:p>
          <a:p>
            <a:endParaRPr lang="en-US" dirty="0" smtClean="0"/>
          </a:p>
          <a:p>
            <a:r>
              <a:rPr lang="en-US" dirty="0" smtClean="0"/>
              <a:t>10. One object can have multiple ____.</a:t>
            </a:r>
          </a:p>
          <a:p>
            <a:r>
              <a:rPr lang="en-US" dirty="0" smtClean="0"/>
              <a:t>A. View </a:t>
            </a:r>
          </a:p>
          <a:p>
            <a:r>
              <a:rPr lang="en-US" dirty="0" smtClean="0"/>
              <a:t>B. Synonym </a:t>
            </a:r>
          </a:p>
          <a:p>
            <a:r>
              <a:rPr lang="en-US" dirty="0" smtClean="0"/>
              <a:t>C. Columns  </a:t>
            </a:r>
          </a:p>
          <a:p>
            <a:r>
              <a:rPr lang="en-US" dirty="0" smtClean="0"/>
              <a:t>D. All of above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ll. When variable is not initialized in PL/SQL block, it contains .</a:t>
            </a:r>
          </a:p>
          <a:p>
            <a:r>
              <a:rPr lang="en-US" dirty="0" smtClean="0"/>
              <a:t>A. Garbage Value </a:t>
            </a:r>
          </a:p>
          <a:p>
            <a:r>
              <a:rPr lang="en-US" dirty="0" smtClean="0"/>
              <a:t>B. Zero </a:t>
            </a:r>
          </a:p>
          <a:p>
            <a:r>
              <a:rPr lang="en-US" dirty="0" smtClean="0"/>
              <a:t>C. NULL </a:t>
            </a:r>
          </a:p>
          <a:p>
            <a:r>
              <a:rPr lang="en-US" dirty="0" smtClean="0"/>
              <a:t>D. Space</a:t>
            </a:r>
          </a:p>
          <a:p>
            <a:endParaRPr lang="en-US" dirty="0" smtClean="0"/>
          </a:p>
          <a:p>
            <a:r>
              <a:rPr lang="en-US" dirty="0" smtClean="0"/>
              <a:t>I2. The data type not supported by Oracle table but PL/SQL is ___.</a:t>
            </a:r>
          </a:p>
          <a:p>
            <a:r>
              <a:rPr lang="en-US" dirty="0" smtClean="0"/>
              <a:t>A. </a:t>
            </a:r>
            <a:r>
              <a:rPr lang="en-US" dirty="0" err="1" smtClean="0"/>
              <a:t>boolean</a:t>
            </a:r>
            <a:r>
              <a:rPr lang="en-US" dirty="0" smtClean="0"/>
              <a:t> </a:t>
            </a:r>
          </a:p>
          <a:p>
            <a:r>
              <a:rPr lang="en-US" dirty="0" smtClean="0"/>
              <a:t>B. varchar2 </a:t>
            </a:r>
          </a:p>
          <a:p>
            <a:r>
              <a:rPr lang="en-US" dirty="0" smtClean="0"/>
              <a:t>C. date </a:t>
            </a:r>
          </a:p>
          <a:p>
            <a:r>
              <a:rPr lang="en-US" dirty="0" smtClean="0"/>
              <a:t>D. Number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I3. The value of :NEW is NULL in case of ____.</a:t>
            </a:r>
          </a:p>
          <a:p>
            <a:r>
              <a:rPr lang="en-US" dirty="0" smtClean="0"/>
              <a:t>A. Update </a:t>
            </a:r>
          </a:p>
          <a:p>
            <a:r>
              <a:rPr lang="en-US" dirty="0" smtClean="0"/>
              <a:t>B. Insert </a:t>
            </a:r>
          </a:p>
          <a:p>
            <a:r>
              <a:rPr lang="en-US" dirty="0" smtClean="0"/>
              <a:t>C. Delete </a:t>
            </a:r>
          </a:p>
          <a:p>
            <a:r>
              <a:rPr lang="en-US" dirty="0" smtClean="0"/>
              <a:t>D. Cannot Say</a:t>
            </a:r>
          </a:p>
          <a:p>
            <a:endParaRPr lang="en-US" dirty="0" smtClean="0"/>
          </a:p>
          <a:p>
            <a:r>
              <a:rPr lang="en-US" dirty="0" smtClean="0"/>
              <a:t>l4. Exception can be raised using .</a:t>
            </a:r>
          </a:p>
          <a:p>
            <a:r>
              <a:rPr lang="en-US" dirty="0" smtClean="0"/>
              <a:t>A. RAISE Statement </a:t>
            </a:r>
          </a:p>
          <a:p>
            <a:r>
              <a:rPr lang="en-US" dirty="0" smtClean="0"/>
              <a:t>B. </a:t>
            </a:r>
            <a:r>
              <a:rPr lang="en-US" dirty="0" err="1" smtClean="0"/>
              <a:t>Raise_Application_Error</a:t>
            </a:r>
            <a:endParaRPr lang="en-US" dirty="0" smtClean="0"/>
          </a:p>
          <a:p>
            <a:r>
              <a:rPr lang="en-US" dirty="0" smtClean="0"/>
              <a:t>C. Both </a:t>
            </a:r>
            <a:r>
              <a:rPr lang="en-US" dirty="0" err="1" smtClean="0"/>
              <a:t>a&amp;b</a:t>
            </a:r>
            <a:r>
              <a:rPr lang="en-US" dirty="0" smtClean="0"/>
              <a:t> </a:t>
            </a:r>
          </a:p>
          <a:p>
            <a:r>
              <a:rPr lang="en-US" dirty="0" smtClean="0"/>
              <a:t>D. None of these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15. The database name is stored in ________.</a:t>
            </a:r>
          </a:p>
          <a:p>
            <a:r>
              <a:rPr lang="en-US" dirty="0" smtClean="0"/>
              <a:t>A. Redo Log File </a:t>
            </a:r>
          </a:p>
          <a:p>
            <a:r>
              <a:rPr lang="en-US" dirty="0" smtClean="0"/>
              <a:t>B. Data File</a:t>
            </a:r>
          </a:p>
          <a:p>
            <a:r>
              <a:rPr lang="en-US" dirty="0" smtClean="0"/>
              <a:t>C. Rollback Segment </a:t>
            </a:r>
          </a:p>
          <a:p>
            <a:r>
              <a:rPr lang="en-US" dirty="0" smtClean="0"/>
              <a:t>D. Control File</a:t>
            </a:r>
          </a:p>
          <a:p>
            <a:endParaRPr lang="en-US" dirty="0" smtClean="0"/>
          </a:p>
          <a:p>
            <a:r>
              <a:rPr lang="en-US" dirty="0" smtClean="0"/>
              <a:t>16. Which process performs instance recovery at instance startup?</a:t>
            </a:r>
          </a:p>
          <a:p>
            <a:r>
              <a:rPr lang="en-US" dirty="0" smtClean="0"/>
              <a:t>A. SMON (system monitor process)</a:t>
            </a:r>
          </a:p>
          <a:p>
            <a:r>
              <a:rPr lang="en-US" dirty="0" smtClean="0"/>
              <a:t>B. PMON (Process monitor process)</a:t>
            </a:r>
          </a:p>
          <a:p>
            <a:r>
              <a:rPr lang="en-US" dirty="0" smtClean="0"/>
              <a:t>C. RMAN (Recovery Manager)</a:t>
            </a:r>
          </a:p>
          <a:p>
            <a:r>
              <a:rPr lang="en-US" dirty="0" smtClean="0"/>
              <a:t>D. RECO (</a:t>
            </a:r>
            <a:r>
              <a:rPr lang="en-US" dirty="0" err="1" smtClean="0"/>
              <a:t>Recoverer</a:t>
            </a:r>
            <a:r>
              <a:rPr lang="en-US" dirty="0" smtClean="0"/>
              <a:t> Process)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17. Who is the owner of Data Dictionary?</a:t>
            </a:r>
          </a:p>
          <a:p>
            <a:r>
              <a:rPr lang="en-US" dirty="0" smtClean="0"/>
              <a:t>A. SYS </a:t>
            </a:r>
          </a:p>
          <a:p>
            <a:r>
              <a:rPr lang="en-US" dirty="0" smtClean="0"/>
              <a:t>B. SYSTEM </a:t>
            </a:r>
          </a:p>
          <a:p>
            <a:r>
              <a:rPr lang="en-US" dirty="0" smtClean="0"/>
              <a:t>C. DBA ‘ </a:t>
            </a:r>
          </a:p>
          <a:p>
            <a:r>
              <a:rPr lang="en-US" dirty="0" smtClean="0"/>
              <a:t>D. All of the above</a:t>
            </a:r>
          </a:p>
          <a:p>
            <a:endParaRPr lang="en-US" dirty="0" smtClean="0"/>
          </a:p>
          <a:p>
            <a:r>
              <a:rPr lang="en-US" dirty="0" smtClean="0"/>
              <a:t>18. Physical backup involves _____</a:t>
            </a:r>
          </a:p>
          <a:p>
            <a:r>
              <a:rPr lang="en-US" dirty="0" smtClean="0"/>
              <a:t>A. Data Files </a:t>
            </a:r>
          </a:p>
          <a:p>
            <a:r>
              <a:rPr lang="en-US" dirty="0" smtClean="0"/>
              <a:t>B. Control Files </a:t>
            </a:r>
          </a:p>
          <a:p>
            <a:r>
              <a:rPr lang="en-US" dirty="0" smtClean="0"/>
              <a:t>C. Redo Log Files </a:t>
            </a:r>
          </a:p>
          <a:p>
            <a:r>
              <a:rPr lang="en-US" dirty="0" smtClean="0"/>
              <a:t>D. All of above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19. Which </a:t>
            </a:r>
            <a:r>
              <a:rPr lang="en-US" dirty="0" err="1" smtClean="0"/>
              <a:t>ﬁle</a:t>
            </a:r>
            <a:r>
              <a:rPr lang="en-US" dirty="0" smtClean="0"/>
              <a:t> is not created by SQL Loader?</a:t>
            </a:r>
          </a:p>
          <a:p>
            <a:r>
              <a:rPr lang="en-US" dirty="0" smtClean="0"/>
              <a:t>A. Bad File </a:t>
            </a:r>
          </a:p>
          <a:p>
            <a:r>
              <a:rPr lang="en-US" dirty="0" smtClean="0"/>
              <a:t>B. Discard File </a:t>
            </a:r>
          </a:p>
          <a:p>
            <a:r>
              <a:rPr lang="en-US" dirty="0" smtClean="0"/>
              <a:t>C. </a:t>
            </a:r>
            <a:r>
              <a:rPr lang="en-US" dirty="0" err="1" smtClean="0"/>
              <a:t>Tmp</a:t>
            </a:r>
            <a:r>
              <a:rPr lang="en-US" dirty="0" smtClean="0"/>
              <a:t> File </a:t>
            </a:r>
          </a:p>
          <a:p>
            <a:r>
              <a:rPr lang="en-US" dirty="0" smtClean="0"/>
              <a:t>D. Log File</a:t>
            </a:r>
          </a:p>
          <a:p>
            <a:endParaRPr lang="en-US" dirty="0" smtClean="0"/>
          </a:p>
          <a:p>
            <a:r>
              <a:rPr lang="en-US" dirty="0" smtClean="0"/>
              <a:t>20. Index is used to ____</a:t>
            </a:r>
          </a:p>
          <a:p>
            <a:r>
              <a:rPr lang="en-US" dirty="0" smtClean="0"/>
              <a:t>A. Retrieve Data Quickly </a:t>
            </a:r>
          </a:p>
          <a:p>
            <a:r>
              <a:rPr lang="en-US" dirty="0" smtClean="0"/>
              <a:t>B. Arrange data in some order</a:t>
            </a:r>
          </a:p>
          <a:p>
            <a:r>
              <a:rPr lang="en-US" dirty="0" smtClean="0"/>
              <a:t>C. Store data efficiently  </a:t>
            </a:r>
          </a:p>
          <a:p>
            <a:r>
              <a:rPr lang="en-US" dirty="0" smtClean="0"/>
              <a:t>D. None of these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2012_cbcs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89567"/>
            <a:ext cx="4495800" cy="4572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(1) The HAVING clause does which of the following ?  </a:t>
            </a:r>
          </a:p>
          <a:p>
            <a:r>
              <a:rPr lang="en-US" dirty="0" smtClean="0"/>
              <a:t>(A) Acts like a WHERE clause but is used for groups  </a:t>
            </a:r>
          </a:p>
          <a:p>
            <a:r>
              <a:rPr lang="en-US" dirty="0" smtClean="0"/>
              <a:t>rather than rows.  </a:t>
            </a:r>
          </a:p>
          <a:p>
            <a:r>
              <a:rPr lang="en-US" dirty="0" smtClean="0"/>
              <a:t>(B) Acts like a WHERE clause but is used for rows  </a:t>
            </a:r>
          </a:p>
          <a:p>
            <a:r>
              <a:rPr lang="en-US" dirty="0" smtClean="0"/>
              <a:t>rather than columns  </a:t>
            </a:r>
          </a:p>
          <a:p>
            <a:r>
              <a:rPr lang="en-US" dirty="0" smtClean="0"/>
              <a:t>(C) Acts like a WHERE clause but is used for columns  rather than groups  </a:t>
            </a:r>
          </a:p>
          <a:p>
            <a:r>
              <a:rPr lang="en-US" dirty="0" smtClean="0"/>
              <a:t>(D) Acts EXACTLY like a WHERE clause.  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44900" y="1589567"/>
            <a:ext cx="4070499" cy="4572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(2) Which of the following is the root directory for oracle ?  </a:t>
            </a:r>
          </a:p>
          <a:p>
            <a:r>
              <a:rPr lang="en-US" dirty="0" smtClean="0"/>
              <a:t>(A) ORACLE_HOME  </a:t>
            </a:r>
          </a:p>
          <a:p>
            <a:r>
              <a:rPr lang="en-US" dirty="0" smtClean="0"/>
              <a:t>(B) ORACLE_ROOT</a:t>
            </a:r>
          </a:p>
          <a:p>
            <a:r>
              <a:rPr lang="en-US" dirty="0" smtClean="0"/>
              <a:t>(C) ORACLE_BASE  </a:t>
            </a:r>
          </a:p>
          <a:p>
            <a:r>
              <a:rPr lang="en-US" dirty="0" smtClean="0"/>
              <a:t>(D) ORACLE_SERVER</a:t>
            </a:r>
          </a:p>
          <a:p>
            <a:endParaRPr lang="en-US" dirty="0" smtClean="0"/>
          </a:p>
          <a:p>
            <a:r>
              <a:rPr lang="en-US" dirty="0" smtClean="0"/>
              <a:t>(3) When the database is running of 24*7 basis, the backup  should be.  </a:t>
            </a:r>
          </a:p>
          <a:p>
            <a:r>
              <a:rPr lang="en-US" dirty="0" smtClean="0"/>
              <a:t>(A) Online backup  </a:t>
            </a:r>
          </a:p>
          <a:p>
            <a:r>
              <a:rPr lang="en-US" dirty="0" smtClean="0"/>
              <a:t>(B) </a:t>
            </a:r>
            <a:r>
              <a:rPr lang="en-US" dirty="0" err="1" smtClean="0"/>
              <a:t>Ofﬂine</a:t>
            </a:r>
            <a:r>
              <a:rPr lang="en-US" dirty="0" smtClean="0"/>
              <a:t> backup  </a:t>
            </a:r>
          </a:p>
          <a:p>
            <a:r>
              <a:rPr lang="en-US" dirty="0" smtClean="0"/>
              <a:t>(C) Table space backup  </a:t>
            </a:r>
          </a:p>
          <a:p>
            <a:r>
              <a:rPr lang="en-US" dirty="0" smtClean="0"/>
              <a:t>(D) None of above 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589566"/>
            <a:ext cx="3886200" cy="5268433"/>
          </a:xfrm>
        </p:spPr>
        <p:txBody>
          <a:bodyPr>
            <a:noAutofit/>
          </a:bodyPr>
          <a:lstStyle/>
          <a:p>
            <a:r>
              <a:rPr lang="en-US" sz="1600" dirty="0" smtClean="0"/>
              <a:t>(4) The value of : NEW is NULL in case of  </a:t>
            </a:r>
          </a:p>
          <a:p>
            <a:r>
              <a:rPr lang="en-US" sz="1600" dirty="0" smtClean="0"/>
              <a:t>(A) Update </a:t>
            </a:r>
          </a:p>
          <a:p>
            <a:r>
              <a:rPr lang="en-US" sz="1600" dirty="0" smtClean="0"/>
              <a:t>(B) Delete  </a:t>
            </a:r>
          </a:p>
          <a:p>
            <a:r>
              <a:rPr lang="en-US" sz="1600" dirty="0" smtClean="0"/>
              <a:t>(C) Insert </a:t>
            </a:r>
          </a:p>
          <a:p>
            <a:r>
              <a:rPr lang="en-US" sz="1600" dirty="0" smtClean="0"/>
              <a:t>(D) Cannot say  </a:t>
            </a:r>
          </a:p>
          <a:p>
            <a:endParaRPr lang="en-US" sz="1600" dirty="0" smtClean="0"/>
          </a:p>
          <a:p>
            <a:r>
              <a:rPr lang="en-US" sz="1600" dirty="0" smtClean="0"/>
              <a:t>(5) Which statement is TRUE about package ?  </a:t>
            </a:r>
          </a:p>
          <a:p>
            <a:r>
              <a:rPr lang="en-US" sz="1600" dirty="0" smtClean="0"/>
              <a:t>(A) The package </a:t>
            </a:r>
            <a:r>
              <a:rPr lang="en-US" sz="1600" dirty="0" err="1" smtClean="0"/>
              <a:t>speciﬁcation</a:t>
            </a:r>
            <a:r>
              <a:rPr lang="en-US" sz="1600" dirty="0" smtClean="0"/>
              <a:t> must be declared for all  packages  </a:t>
            </a:r>
          </a:p>
          <a:p>
            <a:r>
              <a:rPr lang="en-US" sz="1600" dirty="0" smtClean="0"/>
              <a:t>(B) The package body must be declared for all packages  </a:t>
            </a:r>
          </a:p>
          <a:p>
            <a:r>
              <a:rPr lang="en-US" sz="1600" dirty="0" smtClean="0"/>
              <a:t>(C) The package </a:t>
            </a:r>
            <a:r>
              <a:rPr lang="en-US" sz="1600" dirty="0" err="1" smtClean="0"/>
              <a:t>speciﬁcation</a:t>
            </a:r>
            <a:r>
              <a:rPr lang="en-US" sz="1600" dirty="0" smtClean="0"/>
              <a:t> as well as body must be  declared for all packages  </a:t>
            </a:r>
          </a:p>
          <a:p>
            <a:r>
              <a:rPr lang="en-US" sz="1600" dirty="0" smtClean="0"/>
              <a:t>(D) None of above  </a:t>
            </a:r>
          </a:p>
          <a:p>
            <a:endParaRPr lang="en-US"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(6) The SQL statement ‘select * from </a:t>
            </a:r>
            <a:r>
              <a:rPr lang="en-US" dirty="0" err="1" smtClean="0"/>
              <a:t>emp</a:t>
            </a:r>
            <a:r>
              <a:rPr lang="en-US" dirty="0" smtClean="0"/>
              <a:t> Where  exists(select* 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sal</a:t>
            </a:r>
            <a:r>
              <a:rPr lang="en-US" dirty="0" smtClean="0"/>
              <a:t>&gt;1000 and </a:t>
            </a:r>
            <a:r>
              <a:rPr lang="en-US" dirty="0" err="1" smtClean="0"/>
              <a:t>sal</a:t>
            </a:r>
            <a:r>
              <a:rPr lang="en-US" dirty="0" smtClean="0"/>
              <a:t>=1000)‘  </a:t>
            </a:r>
          </a:p>
          <a:p>
            <a:r>
              <a:rPr lang="en-US" dirty="0" smtClean="0"/>
              <a:t>will return.  </a:t>
            </a:r>
          </a:p>
          <a:p>
            <a:r>
              <a:rPr lang="en-US" dirty="0" smtClean="0"/>
              <a:t>(A) No rows  </a:t>
            </a:r>
          </a:p>
          <a:p>
            <a:r>
              <a:rPr lang="en-US" dirty="0" smtClean="0"/>
              <a:t>(B) Exactly one row  </a:t>
            </a:r>
          </a:p>
          <a:p>
            <a:r>
              <a:rPr lang="en-US" dirty="0" smtClean="0"/>
              <a:t>(C) Multiple row  </a:t>
            </a:r>
          </a:p>
          <a:p>
            <a:r>
              <a:rPr lang="en-US" dirty="0" smtClean="0"/>
              <a:t>(D) Cannot say  </a:t>
            </a:r>
          </a:p>
          <a:p>
            <a:endParaRPr lang="en-US" dirty="0" smtClean="0"/>
          </a:p>
          <a:p>
            <a:r>
              <a:rPr lang="en-US" dirty="0" smtClean="0"/>
              <a:t>(7) :OLD and :NEW are.  </a:t>
            </a:r>
          </a:p>
          <a:p>
            <a:r>
              <a:rPr lang="en-US" dirty="0" smtClean="0"/>
              <a:t>(A) Records in the table  </a:t>
            </a:r>
          </a:p>
          <a:p>
            <a:r>
              <a:rPr lang="en-US" dirty="0" smtClean="0"/>
              <a:t>(B) Variables in the PL/SQL block  </a:t>
            </a:r>
          </a:p>
          <a:p>
            <a:r>
              <a:rPr lang="en-US" dirty="0" smtClean="0"/>
              <a:t>(C) Pseudo records for row level trigger  </a:t>
            </a:r>
          </a:p>
          <a:p>
            <a:r>
              <a:rPr lang="en-US" dirty="0" smtClean="0"/>
              <a:t>(D) None of above  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3886200" cy="45720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(8) The Option ON DELETE CASCADE can be </a:t>
            </a:r>
            <a:r>
              <a:rPr lang="en-US" dirty="0" err="1" smtClean="0"/>
              <a:t>deﬁned</a:t>
            </a:r>
            <a:r>
              <a:rPr lang="en-US" dirty="0" smtClean="0"/>
              <a:t> with  </a:t>
            </a:r>
          </a:p>
          <a:p>
            <a:r>
              <a:rPr lang="en-US" dirty="0" smtClean="0"/>
              <a:t>(A) UNIQUE KEY </a:t>
            </a:r>
          </a:p>
          <a:p>
            <a:r>
              <a:rPr lang="en-US" dirty="0" smtClean="0"/>
              <a:t>(B) PRIMARY KEY  </a:t>
            </a:r>
          </a:p>
          <a:p>
            <a:r>
              <a:rPr lang="en-US" dirty="0" smtClean="0"/>
              <a:t>(C) FOREIGN KEY </a:t>
            </a:r>
          </a:p>
          <a:p>
            <a:r>
              <a:rPr lang="en-US" dirty="0" smtClean="0"/>
              <a:t>(D) All of above  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(9) A hot backup is  </a:t>
            </a:r>
          </a:p>
          <a:p>
            <a:r>
              <a:rPr lang="en-US" dirty="0" smtClean="0"/>
              <a:t>(A) Taking up the backup of the database While it is  still up and running.  </a:t>
            </a:r>
          </a:p>
          <a:p>
            <a:r>
              <a:rPr lang="en-US" dirty="0" smtClean="0"/>
              <a:t>(B) Taking up the backup followed by taking cold  backup  </a:t>
            </a:r>
          </a:p>
          <a:p>
            <a:r>
              <a:rPr lang="en-US" dirty="0" smtClean="0"/>
              <a:t>(C) Taking up the backup of the </a:t>
            </a:r>
            <a:r>
              <a:rPr lang="en-US" dirty="0" err="1" smtClean="0"/>
              <a:t>databse</a:t>
            </a:r>
            <a:r>
              <a:rPr lang="en-US" dirty="0" smtClean="0"/>
              <a:t> after the user logs off  </a:t>
            </a:r>
          </a:p>
          <a:p>
            <a:r>
              <a:rPr lang="en-US" dirty="0" smtClean="0"/>
              <a:t>(D) None of the above  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(10) The Sub Query may have nested Sub Queries inside it.  </a:t>
            </a:r>
          </a:p>
          <a:p>
            <a:r>
              <a:rPr lang="en-US" dirty="0" smtClean="0"/>
              <a:t>(A) True  </a:t>
            </a:r>
          </a:p>
          <a:p>
            <a:r>
              <a:rPr lang="en-US" dirty="0" smtClean="0"/>
              <a:t>(B) False  </a:t>
            </a:r>
          </a:p>
          <a:p>
            <a:r>
              <a:rPr lang="en-US" dirty="0" smtClean="0"/>
              <a:t>(C) Nesting is illegal in Sub Query  </a:t>
            </a:r>
          </a:p>
          <a:p>
            <a:r>
              <a:rPr lang="en-US" dirty="0" smtClean="0"/>
              <a:t>(D) Cannot say  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(11) Which character function can be used to return a  specified portion of a character string ?  </a:t>
            </a:r>
          </a:p>
          <a:p>
            <a:r>
              <a:rPr lang="en-US" dirty="0" smtClean="0"/>
              <a:t>(A) INSTR  </a:t>
            </a:r>
          </a:p>
          <a:p>
            <a:r>
              <a:rPr lang="en-US" dirty="0" smtClean="0"/>
              <a:t>(B) POS  </a:t>
            </a:r>
          </a:p>
          <a:p>
            <a:r>
              <a:rPr lang="en-US" dirty="0" smtClean="0"/>
              <a:t>(C) SUBSTR  </a:t>
            </a:r>
          </a:p>
          <a:p>
            <a:r>
              <a:rPr lang="en-US" dirty="0" smtClean="0"/>
              <a:t>(D) None of above 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(12) Which of the following SQL functions can operate on any  </a:t>
            </a:r>
            <a:r>
              <a:rPr lang="en-US" dirty="0" err="1" smtClean="0"/>
              <a:t>datatype</a:t>
            </a:r>
            <a:r>
              <a:rPr lang="en-US" dirty="0" smtClean="0"/>
              <a:t> ?  </a:t>
            </a:r>
          </a:p>
          <a:p>
            <a:r>
              <a:rPr lang="en-US" dirty="0" smtClean="0"/>
              <a:t>(A) TO_CHAR  </a:t>
            </a:r>
          </a:p>
          <a:p>
            <a:r>
              <a:rPr lang="en-US" dirty="0" smtClean="0"/>
              <a:t>(B) LOWER  </a:t>
            </a:r>
          </a:p>
          <a:p>
            <a:r>
              <a:rPr lang="en-US" dirty="0" smtClean="0"/>
              <a:t>(C) LPAD  </a:t>
            </a:r>
          </a:p>
          <a:p>
            <a:r>
              <a:rPr lang="en-US" dirty="0" smtClean="0"/>
              <a:t>(D) MAX  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(13) A cluster is a schema object that contains data from  all of which have one or more columns in  common.  </a:t>
            </a:r>
          </a:p>
          <a:p>
            <a:r>
              <a:rPr lang="en-US" dirty="0" smtClean="0"/>
              <a:t>(A) One table  </a:t>
            </a:r>
          </a:p>
          <a:p>
            <a:r>
              <a:rPr lang="en-US" dirty="0" smtClean="0"/>
              <a:t>(B) One or more tables  </a:t>
            </a:r>
          </a:p>
          <a:p>
            <a:r>
              <a:rPr lang="en-US" dirty="0" smtClean="0"/>
              <a:t>(C) Two or more tables  </a:t>
            </a:r>
          </a:p>
          <a:p>
            <a:r>
              <a:rPr lang="en-US" dirty="0" smtClean="0"/>
              <a:t>(D) At least two tables  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(14) Which SQL statement is used to extract data from a  database ?  </a:t>
            </a:r>
          </a:p>
          <a:p>
            <a:r>
              <a:rPr lang="en-US" dirty="0" smtClean="0"/>
              <a:t>(A) SELECT  </a:t>
            </a:r>
          </a:p>
          <a:p>
            <a:r>
              <a:rPr lang="en-US" dirty="0" smtClean="0"/>
              <a:t>(B)) GET  </a:t>
            </a:r>
          </a:p>
          <a:p>
            <a:r>
              <a:rPr lang="en-US" dirty="0" smtClean="0"/>
              <a:t>(c) OPEN  </a:t>
            </a:r>
          </a:p>
          <a:p>
            <a:r>
              <a:rPr lang="en-US" dirty="0" smtClean="0"/>
              <a:t>(D) EXTRACT  </a:t>
            </a:r>
          </a:p>
          <a:p>
            <a:r>
              <a:rPr lang="en-US" dirty="0" smtClean="0"/>
              <a:t> </a:t>
            </a:r>
          </a:p>
          <a:p>
            <a:r>
              <a:rPr lang="en-US" dirty="0" smtClean="0"/>
              <a:t>(15) Which of the following gets the largest integer less than  or equal to x ?  </a:t>
            </a:r>
          </a:p>
          <a:p>
            <a:r>
              <a:rPr lang="en-US" dirty="0" smtClean="0"/>
              <a:t>(A) TRUNC  </a:t>
            </a:r>
          </a:p>
          <a:p>
            <a:r>
              <a:rPr lang="en-US" dirty="0" smtClean="0"/>
              <a:t>(B) CEIL (x)  </a:t>
            </a:r>
          </a:p>
          <a:p>
            <a:r>
              <a:rPr lang="en-US" dirty="0" smtClean="0"/>
              <a:t>(C) FLOOR (x)  </a:t>
            </a:r>
          </a:p>
          <a:p>
            <a:r>
              <a:rPr lang="en-US" dirty="0" smtClean="0"/>
              <a:t>(D) ACOS (X) 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447800"/>
            <a:ext cx="4267200" cy="5410200"/>
          </a:xfrm>
        </p:spPr>
        <p:txBody>
          <a:bodyPr>
            <a:noAutofit/>
          </a:bodyPr>
          <a:lstStyle/>
          <a:p>
            <a:r>
              <a:rPr lang="en-US" sz="1400" dirty="0" smtClean="0"/>
              <a:t>(16) The ORDER BY clause can only be used in.  </a:t>
            </a:r>
          </a:p>
          <a:p>
            <a:r>
              <a:rPr lang="en-US" sz="1400" dirty="0" smtClean="0"/>
              <a:t>(A) SELECT query  </a:t>
            </a:r>
          </a:p>
          <a:p>
            <a:r>
              <a:rPr lang="en-US" sz="1400" dirty="0" smtClean="0"/>
              <a:t>(B) INSERT query  </a:t>
            </a:r>
          </a:p>
          <a:p>
            <a:r>
              <a:rPr lang="en-US" sz="1400" dirty="0" smtClean="0"/>
              <a:t>(C) GROUP BY query  </a:t>
            </a:r>
          </a:p>
          <a:p>
            <a:r>
              <a:rPr lang="en-US" sz="1400" dirty="0" smtClean="0"/>
              <a:t>(D) Having query  </a:t>
            </a:r>
          </a:p>
          <a:p>
            <a:r>
              <a:rPr lang="en-US" sz="1400" dirty="0" smtClean="0"/>
              <a:t> </a:t>
            </a:r>
          </a:p>
          <a:p>
            <a:r>
              <a:rPr lang="en-US" sz="1400" dirty="0" smtClean="0"/>
              <a:t>(17) The </a:t>
            </a:r>
            <a:r>
              <a:rPr lang="en-US" sz="1400" dirty="0" err="1" smtClean="0"/>
              <a:t>ﬁrst</a:t>
            </a:r>
            <a:r>
              <a:rPr lang="en-US" sz="1400" dirty="0" smtClean="0"/>
              <a:t> step to start the </a:t>
            </a:r>
            <a:r>
              <a:rPr lang="en-US" sz="1400" dirty="0" err="1" smtClean="0"/>
              <a:t>databse</a:t>
            </a:r>
            <a:r>
              <a:rPr lang="en-US" sz="1400" dirty="0" smtClean="0"/>
              <a:t> is  </a:t>
            </a:r>
          </a:p>
          <a:p>
            <a:r>
              <a:rPr lang="en-US" sz="1400" dirty="0" smtClean="0"/>
              <a:t>(A) Mounting </a:t>
            </a:r>
            <a:r>
              <a:rPr lang="en-US" sz="1400" dirty="0" err="1" smtClean="0"/>
              <a:t>databse</a:t>
            </a:r>
            <a:r>
              <a:rPr lang="en-US" sz="1400" dirty="0" smtClean="0"/>
              <a:t>  </a:t>
            </a:r>
          </a:p>
          <a:p>
            <a:r>
              <a:rPr lang="en-US" sz="1400" dirty="0" smtClean="0"/>
              <a:t>(B) Open the database  </a:t>
            </a:r>
          </a:p>
          <a:p>
            <a:r>
              <a:rPr lang="en-US" sz="1400" dirty="0" smtClean="0"/>
              <a:t>(C) Start the </a:t>
            </a:r>
            <a:r>
              <a:rPr lang="en-US" sz="1400" dirty="0" err="1" smtClean="0"/>
              <a:t>databse</a:t>
            </a:r>
            <a:r>
              <a:rPr lang="en-US" sz="1400" dirty="0" smtClean="0"/>
              <a:t>  </a:t>
            </a:r>
          </a:p>
          <a:p>
            <a:r>
              <a:rPr lang="en-US" sz="1400" dirty="0" smtClean="0"/>
              <a:t>(D) Instance creation  </a:t>
            </a:r>
          </a:p>
          <a:p>
            <a:endParaRPr lang="en-US" sz="1400" dirty="0" smtClean="0"/>
          </a:p>
          <a:p>
            <a:r>
              <a:rPr lang="en-US" sz="1400" dirty="0" smtClean="0"/>
              <a:t>(18) In case of EXPORT, the file created by oracle will be.  </a:t>
            </a:r>
          </a:p>
          <a:p>
            <a:r>
              <a:rPr lang="en-US" sz="1400" dirty="0" smtClean="0"/>
              <a:t>(A) </a:t>
            </a:r>
            <a:r>
              <a:rPr lang="en-US" sz="1400" dirty="0" err="1" smtClean="0"/>
              <a:t>Ascii</a:t>
            </a:r>
            <a:r>
              <a:rPr lang="en-US" sz="1400" dirty="0" smtClean="0"/>
              <a:t> file  </a:t>
            </a:r>
          </a:p>
          <a:p>
            <a:r>
              <a:rPr lang="en-US" sz="1400" dirty="0" smtClean="0"/>
              <a:t>(B) Binary </a:t>
            </a:r>
            <a:r>
              <a:rPr lang="en-US" sz="1400" dirty="0" err="1" smtClean="0"/>
              <a:t>ﬁle</a:t>
            </a:r>
            <a:r>
              <a:rPr lang="en-US" sz="1400" dirty="0" smtClean="0"/>
              <a:t>  </a:t>
            </a:r>
          </a:p>
          <a:p>
            <a:r>
              <a:rPr lang="en-US" sz="1400" dirty="0" smtClean="0"/>
              <a:t>(C) Bitmap file  </a:t>
            </a:r>
          </a:p>
          <a:p>
            <a:r>
              <a:rPr lang="en-US" sz="1400" dirty="0" smtClean="0"/>
              <a:t>(D) Vector </a:t>
            </a:r>
            <a:r>
              <a:rPr lang="en-US" sz="1400" dirty="0" err="1" smtClean="0"/>
              <a:t>ﬁle</a:t>
            </a:r>
            <a:r>
              <a:rPr lang="en-US" sz="1400" dirty="0" smtClean="0"/>
              <a:t>  </a:t>
            </a:r>
          </a:p>
          <a:p>
            <a:endParaRPr lang="en-US"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44901" y="1589566"/>
            <a:ext cx="3886200" cy="4963633"/>
          </a:xfrm>
        </p:spPr>
        <p:txBody>
          <a:bodyPr>
            <a:noAutofit/>
          </a:bodyPr>
          <a:lstStyle/>
          <a:p>
            <a:r>
              <a:rPr lang="en-US" sz="1800" dirty="0" smtClean="0"/>
              <a:t>(19) Which table space is created automatically ?  </a:t>
            </a:r>
          </a:p>
          <a:p>
            <a:r>
              <a:rPr lang="en-US" sz="1800" dirty="0" smtClean="0"/>
              <a:t>(A) DBA  </a:t>
            </a:r>
          </a:p>
          <a:p>
            <a:r>
              <a:rPr lang="en-US" sz="1800" dirty="0" smtClean="0"/>
              <a:t>(B) USER  </a:t>
            </a:r>
          </a:p>
          <a:p>
            <a:r>
              <a:rPr lang="en-US" sz="1800" dirty="0" smtClean="0"/>
              <a:t>(C) SYSTEM  </a:t>
            </a:r>
          </a:p>
          <a:p>
            <a:r>
              <a:rPr lang="en-US" sz="1800" dirty="0" smtClean="0"/>
              <a:t>(D) None of above  </a:t>
            </a:r>
          </a:p>
          <a:p>
            <a:r>
              <a:rPr lang="en-US" sz="1800" dirty="0" smtClean="0"/>
              <a:t> </a:t>
            </a:r>
          </a:p>
          <a:p>
            <a:r>
              <a:rPr lang="en-US" sz="1800" dirty="0" smtClean="0"/>
              <a:t>(20) The ‘Record’ type </a:t>
            </a:r>
            <a:r>
              <a:rPr lang="en-US" sz="1800" dirty="0" err="1" smtClean="0"/>
              <a:t>vairable</a:t>
            </a:r>
            <a:r>
              <a:rPr lang="en-US" sz="1800" dirty="0" smtClean="0"/>
              <a:t> is automatically declared in.  </a:t>
            </a:r>
          </a:p>
          <a:p>
            <a:r>
              <a:rPr lang="en-US" sz="1800" dirty="0" smtClean="0"/>
              <a:t>(A) Simple cursor  </a:t>
            </a:r>
          </a:p>
          <a:p>
            <a:r>
              <a:rPr lang="en-US" sz="1800" dirty="0" smtClean="0"/>
              <a:t>(B) Cursor with WHILE Loop  </a:t>
            </a:r>
          </a:p>
          <a:p>
            <a:r>
              <a:rPr lang="en-US" sz="1800" dirty="0" smtClean="0"/>
              <a:t>(C) Cursor With row processing logic  </a:t>
            </a:r>
          </a:p>
          <a:p>
            <a:r>
              <a:rPr lang="en-US" sz="1800" dirty="0" smtClean="0"/>
              <a:t>(D) Cursor FOR Loop  </a:t>
            </a:r>
          </a:p>
          <a:p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25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2013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(I) is the standard language to work with data base. </a:t>
            </a:r>
          </a:p>
          <a:p>
            <a:r>
              <a:rPr lang="en-US" dirty="0" smtClean="0"/>
              <a:t>(a) Higher level language </a:t>
            </a:r>
          </a:p>
          <a:p>
            <a:r>
              <a:rPr lang="en-US" dirty="0" smtClean="0"/>
              <a:t>(b) AI based language </a:t>
            </a:r>
          </a:p>
          <a:p>
            <a:r>
              <a:rPr lang="en-US" dirty="0" smtClean="0"/>
              <a:t>(c) Structure query language </a:t>
            </a:r>
          </a:p>
          <a:p>
            <a:r>
              <a:rPr lang="en-US" dirty="0" smtClean="0"/>
              <a:t>(d) Lower level language</a:t>
            </a:r>
          </a:p>
          <a:p>
            <a:endParaRPr lang="en-US" dirty="0" smtClean="0"/>
          </a:p>
          <a:p>
            <a:r>
              <a:rPr lang="en-US" dirty="0" smtClean="0"/>
              <a:t>(2) Normalization is used tor </a:t>
            </a:r>
          </a:p>
          <a:p>
            <a:r>
              <a:rPr lang="en-US" dirty="0" smtClean="0"/>
              <a:t>(a) data protection </a:t>
            </a:r>
          </a:p>
          <a:p>
            <a:r>
              <a:rPr lang="en-US" dirty="0" smtClean="0"/>
              <a:t>(b) minimize data redundancy</a:t>
            </a:r>
          </a:p>
          <a:p>
            <a:r>
              <a:rPr lang="en-US" dirty="0" smtClean="0"/>
              <a:t>(c) data distribution </a:t>
            </a:r>
          </a:p>
          <a:p>
            <a:r>
              <a:rPr lang="en-US" dirty="0" smtClean="0"/>
              <a:t>(d) None of the above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(3) The query is processed by (a) Client </a:t>
            </a:r>
          </a:p>
          <a:p>
            <a:r>
              <a:rPr lang="en-US" dirty="0" smtClean="0"/>
              <a:t>(b) Network </a:t>
            </a:r>
          </a:p>
          <a:p>
            <a:r>
              <a:rPr lang="en-US" dirty="0" smtClean="0"/>
              <a:t>(c) Server </a:t>
            </a:r>
          </a:p>
          <a:p>
            <a:r>
              <a:rPr lang="en-US" dirty="0" smtClean="0"/>
              <a:t>(d) All of the above</a:t>
            </a:r>
          </a:p>
          <a:p>
            <a:endParaRPr lang="en-US" dirty="0" smtClean="0"/>
          </a:p>
          <a:p>
            <a:r>
              <a:rPr lang="en-US" dirty="0" smtClean="0"/>
              <a:t>(4) The IN operator returns TRUE when </a:t>
            </a:r>
          </a:p>
          <a:p>
            <a:r>
              <a:rPr lang="en-US" dirty="0" smtClean="0"/>
              <a:t>(a) All value match </a:t>
            </a:r>
          </a:p>
          <a:p>
            <a:r>
              <a:rPr lang="en-US" dirty="0" smtClean="0"/>
              <a:t>(b) No value match </a:t>
            </a:r>
          </a:p>
          <a:p>
            <a:r>
              <a:rPr lang="en-US" dirty="0" smtClean="0"/>
              <a:t>(c) Any value match </a:t>
            </a:r>
          </a:p>
          <a:p>
            <a:r>
              <a:rPr lang="en-US" dirty="0" smtClean="0"/>
              <a:t>(d) More than one value match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(5) Using which function date can be displayed in </a:t>
            </a:r>
            <a:r>
              <a:rPr lang="en-US" smtClean="0"/>
              <a:t>different format? </a:t>
            </a:r>
            <a:endParaRPr lang="en-US" dirty="0" smtClean="0"/>
          </a:p>
          <a:p>
            <a:r>
              <a:rPr lang="en-US" dirty="0" smtClean="0"/>
              <a:t>(a) Format </a:t>
            </a:r>
          </a:p>
          <a:p>
            <a:r>
              <a:rPr lang="en-US" dirty="0" smtClean="0"/>
              <a:t>(b) Date format </a:t>
            </a:r>
          </a:p>
          <a:p>
            <a:r>
              <a:rPr lang="en-US" dirty="0" smtClean="0"/>
              <a:t>(c) To-char </a:t>
            </a:r>
          </a:p>
          <a:p>
            <a:r>
              <a:rPr lang="en-US" dirty="0" smtClean="0"/>
              <a:t>(d) To-date </a:t>
            </a:r>
          </a:p>
          <a:p>
            <a:endParaRPr lang="en-US" dirty="0" smtClean="0"/>
          </a:p>
          <a:p>
            <a:r>
              <a:rPr lang="en-US" dirty="0" smtClean="0"/>
              <a:t>(6) View object is also known as </a:t>
            </a:r>
          </a:p>
          <a:p>
            <a:r>
              <a:rPr lang="en-US" dirty="0" smtClean="0"/>
              <a:t>(a) </a:t>
            </a:r>
            <a:r>
              <a:rPr lang="en-US" dirty="0" err="1" smtClean="0"/>
              <a:t>Storcd</a:t>
            </a:r>
            <a:r>
              <a:rPr lang="en-US" dirty="0" smtClean="0"/>
              <a:t> table </a:t>
            </a:r>
          </a:p>
          <a:p>
            <a:r>
              <a:rPr lang="en-US" dirty="0" smtClean="0"/>
              <a:t>(b) Stored object </a:t>
            </a:r>
          </a:p>
          <a:p>
            <a:r>
              <a:rPr lang="en-US" dirty="0" smtClean="0"/>
              <a:t>(c) Stored query </a:t>
            </a:r>
          </a:p>
          <a:p>
            <a:r>
              <a:rPr lang="en-US" dirty="0" smtClean="0"/>
              <a:t>(d) Stored procedure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>
            <a:normAutofit fontScale="70000" lnSpcReduction="20000"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794</TotalTime>
  <Words>1742</Words>
  <Application>Microsoft Office PowerPoint</Application>
  <PresentationFormat>On-screen Show (4:3)</PresentationFormat>
  <Paragraphs>510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Median</vt:lpstr>
      <vt:lpstr>One mark question and answers of saurashtra university</vt:lpstr>
      <vt:lpstr>2017 old ___</vt:lpstr>
      <vt:lpstr>Slide 3</vt:lpstr>
      <vt:lpstr>2017 new ____</vt:lpstr>
      <vt:lpstr>Slide 5</vt:lpstr>
      <vt:lpstr>Slide 6</vt:lpstr>
      <vt:lpstr>2016</vt:lpstr>
      <vt:lpstr>Slide 8</vt:lpstr>
      <vt:lpstr>Slide 9</vt:lpstr>
      <vt:lpstr>2014</vt:lpstr>
      <vt:lpstr>Slide 11</vt:lpstr>
      <vt:lpstr>Slide 12</vt:lpstr>
      <vt:lpstr>Slide 13</vt:lpstr>
      <vt:lpstr>2015</vt:lpstr>
      <vt:lpstr>Slide 15</vt:lpstr>
      <vt:lpstr>Slide 16</vt:lpstr>
      <vt:lpstr>Slide 17</vt:lpstr>
      <vt:lpstr>Slide 18</vt:lpstr>
      <vt:lpstr>2012_cbcs</vt:lpstr>
      <vt:lpstr>Slide 20</vt:lpstr>
      <vt:lpstr>Slide 21</vt:lpstr>
      <vt:lpstr>Slide 22</vt:lpstr>
      <vt:lpstr>Slide 23</vt:lpstr>
      <vt:lpstr>2013</vt:lpstr>
      <vt:lpstr>Slide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mark question and answers of saurashtra university</dc:title>
  <dc:creator>jj</dc:creator>
  <cp:lastModifiedBy>PC</cp:lastModifiedBy>
  <cp:revision>106</cp:revision>
  <dcterms:created xsi:type="dcterms:W3CDTF">2018-09-10T15:12:21Z</dcterms:created>
  <dcterms:modified xsi:type="dcterms:W3CDTF">2023-09-29T03:16:05Z</dcterms:modified>
</cp:coreProperties>
</file>