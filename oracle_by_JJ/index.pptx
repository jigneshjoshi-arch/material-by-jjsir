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4" r:id="rId5"/>
    <p:sldId id="265" r:id="rId6"/>
    <p:sldId id="266" r:id="rId7"/>
    <p:sldId id="267" r:id="rId8"/>
    <p:sldId id="260" r:id="rId9"/>
    <p:sldId id="258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7C9F3F-153B-44D6-80E0-6E7A8F0E1B3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B853A1-7D5C-4BC9-A21B-5C291A8F17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77000" cy="137160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/>
              <a:t>index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indexes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 </a:t>
            </a:r>
            <a:r>
              <a:rPr lang="en-US" b="1" dirty="0" smtClean="0"/>
              <a:t>index</a:t>
            </a:r>
            <a:r>
              <a:rPr lang="en-US" dirty="0" smtClean="0"/>
              <a:t> is a object that contains an entry for each value that appears in the </a:t>
            </a:r>
            <a:r>
              <a:rPr lang="en-US" b="1" dirty="0" smtClean="0"/>
              <a:t>indexed</a:t>
            </a:r>
            <a:r>
              <a:rPr lang="en-US" dirty="0" smtClean="0"/>
              <a:t> column(s) of the table and provides direct, fast access to rows.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 tree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</a:t>
            </a:r>
            <a:r>
              <a:rPr lang="en-US" dirty="0" smtClean="0"/>
              <a:t>-</a:t>
            </a:r>
            <a:r>
              <a:rPr lang="en-US" b="1" dirty="0" smtClean="0"/>
              <a:t>tree</a:t>
            </a:r>
            <a:r>
              <a:rPr lang="en-US" dirty="0" smtClean="0"/>
              <a:t> is a self-balancing </a:t>
            </a:r>
            <a:r>
              <a:rPr lang="en-US" b="1" dirty="0" smtClean="0"/>
              <a:t>tree</a:t>
            </a:r>
            <a:r>
              <a:rPr lang="en-US" dirty="0" smtClean="0"/>
              <a:t> data structure that keeps data sorted and allows searches, sequential access, insertions, and deletions in time.</a:t>
            </a:r>
          </a:p>
          <a:p>
            <a:endParaRPr lang="en-US" dirty="0" smtClean="0"/>
          </a:p>
          <a:p>
            <a:r>
              <a:rPr lang="en-US" dirty="0" smtClean="0"/>
              <a:t>Each page in an </a:t>
            </a:r>
            <a:r>
              <a:rPr lang="en-US" b="1" dirty="0" smtClean="0"/>
              <a:t>index B</a:t>
            </a:r>
            <a:r>
              <a:rPr lang="en-US" dirty="0" smtClean="0"/>
              <a:t>-</a:t>
            </a:r>
            <a:r>
              <a:rPr lang="en-US" b="1" dirty="0" smtClean="0"/>
              <a:t>tree</a:t>
            </a:r>
            <a:r>
              <a:rPr lang="en-US" dirty="0" smtClean="0"/>
              <a:t> is called an </a:t>
            </a:r>
            <a:r>
              <a:rPr lang="en-US" b="1" dirty="0" smtClean="0"/>
              <a:t>index</a:t>
            </a:r>
            <a:r>
              <a:rPr lang="en-US" dirty="0" smtClean="0"/>
              <a:t> node. The top node of the </a:t>
            </a:r>
            <a:r>
              <a:rPr lang="en-US" b="1" dirty="0" smtClean="0"/>
              <a:t>B</a:t>
            </a:r>
            <a:r>
              <a:rPr lang="en-US" dirty="0" smtClean="0"/>
              <a:t>-</a:t>
            </a:r>
            <a:r>
              <a:rPr lang="en-US" b="1" dirty="0" smtClean="0"/>
              <a:t>tree</a:t>
            </a:r>
            <a:r>
              <a:rPr lang="en-US" dirty="0" smtClean="0"/>
              <a:t> is called the root node. The bottom nodes in the </a:t>
            </a:r>
            <a:r>
              <a:rPr lang="en-US" b="1" dirty="0" smtClean="0"/>
              <a:t>index</a:t>
            </a:r>
            <a:r>
              <a:rPr lang="en-US" dirty="0" smtClean="0"/>
              <a:t> are called the leaf nodes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Basic Parts of a B-Tree:</a:t>
            </a:r>
          </a:p>
          <a:p>
            <a:pPr lvl="1"/>
            <a:r>
              <a:rPr lang="en-US" b="1" dirty="0" smtClean="0"/>
              <a:t>Root Node</a:t>
            </a:r>
            <a:r>
              <a:rPr lang="en-US" dirty="0" smtClean="0"/>
              <a:t> – The </a:t>
            </a:r>
            <a:r>
              <a:rPr lang="en-US" b="1" dirty="0" smtClean="0"/>
              <a:t>top level</a:t>
            </a:r>
            <a:r>
              <a:rPr lang="en-US" dirty="0" smtClean="0"/>
              <a:t> of the tree. It’s where the search begins.</a:t>
            </a:r>
          </a:p>
          <a:p>
            <a:pPr lvl="1"/>
            <a:r>
              <a:rPr lang="en-US" b="1" dirty="0" smtClean="0"/>
              <a:t>Branch/Intermediate Nodes</a:t>
            </a:r>
            <a:r>
              <a:rPr lang="en-US" dirty="0" smtClean="0"/>
              <a:t> – These are </a:t>
            </a:r>
            <a:r>
              <a:rPr lang="en-US" b="1" dirty="0" smtClean="0"/>
              <a:t>middle levels</a:t>
            </a:r>
            <a:r>
              <a:rPr lang="en-US" dirty="0" smtClean="0"/>
              <a:t> used to guide the search.</a:t>
            </a:r>
          </a:p>
          <a:p>
            <a:pPr lvl="1"/>
            <a:r>
              <a:rPr lang="en-US" b="1" dirty="0" smtClean="0"/>
              <a:t>Leaf Nodes</a:t>
            </a:r>
            <a:r>
              <a:rPr lang="en-US" dirty="0" smtClean="0"/>
              <a:t> – The </a:t>
            </a:r>
            <a:r>
              <a:rPr lang="en-US" b="1" dirty="0" smtClean="0"/>
              <a:t>bottom level</a:t>
            </a:r>
            <a:r>
              <a:rPr lang="en-US" dirty="0" smtClean="0"/>
              <a:t> where the </a:t>
            </a:r>
            <a:r>
              <a:rPr lang="en-US" b="1" dirty="0" smtClean="0"/>
              <a:t>actual data (or pointers to rows)</a:t>
            </a:r>
            <a:r>
              <a:rPr lang="en-US" dirty="0" smtClean="0"/>
              <a:t> are stored.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How It Works (Simple Example):</a:t>
            </a:r>
          </a:p>
          <a:p>
            <a:r>
              <a:rPr lang="en-US" dirty="0" smtClean="0"/>
              <a:t>Let's say you have a table of students like this: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Now, Oracle creates a </a:t>
            </a:r>
            <a:r>
              <a:rPr lang="en-US" b="1" dirty="0" smtClean="0"/>
              <a:t>B-Tree index</a:t>
            </a:r>
            <a:r>
              <a:rPr lang="en-US" dirty="0" smtClean="0"/>
              <a:t> on the </a:t>
            </a:r>
            <a:r>
              <a:rPr lang="en-US" dirty="0" err="1" smtClean="0"/>
              <a:t>Student_ID</a:t>
            </a:r>
            <a:r>
              <a:rPr lang="en-US" dirty="0" smtClean="0"/>
              <a:t> column.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2514600"/>
          <a:ext cx="27432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970"/>
                <a:gridCol w="194123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Charlie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David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Root Node:</a:t>
            </a:r>
            <a:r>
              <a:rPr lang="en-US" dirty="0" smtClean="0"/>
              <a:t> [103]</a:t>
            </a:r>
          </a:p>
          <a:p>
            <a:r>
              <a:rPr lang="en-US" b="1" dirty="0" smtClean="0"/>
              <a:t>Left Leaf:</a:t>
            </a:r>
            <a:r>
              <a:rPr lang="en-US" dirty="0" smtClean="0"/>
              <a:t> has values smaller than 103 → [101, 102]</a:t>
            </a:r>
          </a:p>
          <a:p>
            <a:r>
              <a:rPr lang="en-US" b="1" dirty="0" smtClean="0"/>
              <a:t>Right Leaf:</a:t>
            </a:r>
            <a:r>
              <a:rPr lang="en-US" dirty="0" smtClean="0"/>
              <a:t> has values bigger than 103 → [104, 105]</a:t>
            </a:r>
          </a:p>
          <a:p>
            <a:r>
              <a:rPr lang="en-US" b="1" dirty="0" smtClean="0"/>
              <a:t>Search Example:</a:t>
            </a:r>
          </a:p>
          <a:p>
            <a:pPr lvl="1"/>
            <a:r>
              <a:rPr lang="en-US" dirty="0" smtClean="0"/>
              <a:t>If you search for </a:t>
            </a:r>
            <a:r>
              <a:rPr lang="en-US" b="1" dirty="0" err="1" smtClean="0"/>
              <a:t>Student_ID</a:t>
            </a:r>
            <a:r>
              <a:rPr lang="en-US" b="1" dirty="0" smtClean="0"/>
              <a:t> = 104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Start at </a:t>
            </a:r>
            <a:r>
              <a:rPr lang="en-US" b="1" dirty="0" smtClean="0"/>
              <a:t>root node</a:t>
            </a:r>
            <a:r>
              <a:rPr lang="en-US" dirty="0" smtClean="0"/>
              <a:t> → 104 &gt; 103 → go right.</a:t>
            </a:r>
          </a:p>
          <a:p>
            <a:pPr lvl="1"/>
            <a:r>
              <a:rPr lang="en-US" dirty="0" smtClean="0"/>
              <a:t>Check in </a:t>
            </a:r>
            <a:r>
              <a:rPr lang="en-US" b="1" dirty="0" smtClean="0"/>
              <a:t>right leaf</a:t>
            </a:r>
            <a:r>
              <a:rPr lang="en-US" dirty="0" smtClean="0"/>
              <a:t> → found 104 → ✅ fast result.</a:t>
            </a:r>
          </a:p>
          <a:p>
            <a:pPr lvl="1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457199"/>
            <a:ext cx="2895600" cy="135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Why Is This Useful?</a:t>
            </a:r>
          </a:p>
          <a:p>
            <a:pPr lvl="1"/>
            <a:r>
              <a:rPr lang="en-US" dirty="0" smtClean="0"/>
              <a:t>Without an index, Oracle would </a:t>
            </a:r>
            <a:r>
              <a:rPr lang="en-US" b="1" dirty="0" smtClean="0"/>
              <a:t>scan the whole table</a:t>
            </a:r>
            <a:r>
              <a:rPr lang="en-US" dirty="0" smtClean="0"/>
              <a:t> to find 104 (slow!).</a:t>
            </a:r>
          </a:p>
          <a:p>
            <a:pPr lvl="1"/>
            <a:r>
              <a:rPr lang="en-US" dirty="0" smtClean="0"/>
              <a:t>With a </a:t>
            </a:r>
            <a:r>
              <a:rPr lang="en-US" b="1" dirty="0" smtClean="0"/>
              <a:t>B-Tree index</a:t>
            </a:r>
            <a:r>
              <a:rPr lang="en-US" dirty="0" smtClean="0"/>
              <a:t>, it finds it much faster — like how a </a:t>
            </a:r>
            <a:r>
              <a:rPr lang="en-US" b="1" dirty="0" smtClean="0"/>
              <a:t>dictionary</a:t>
            </a:r>
            <a:r>
              <a:rPr lang="en-US" dirty="0" smtClean="0"/>
              <a:t> helps you find words quickly.</a:t>
            </a:r>
          </a:p>
          <a:p>
            <a:r>
              <a:rPr lang="en-US" b="1" dirty="0" smtClean="0"/>
              <a:t>Summary:</a:t>
            </a:r>
          </a:p>
          <a:p>
            <a:pPr lvl="1"/>
            <a:r>
              <a:rPr lang="en-US" b="1" dirty="0" smtClean="0"/>
              <a:t>B-Tree</a:t>
            </a:r>
            <a:r>
              <a:rPr lang="en-US" dirty="0" smtClean="0"/>
              <a:t> helps Oracle </a:t>
            </a:r>
            <a:r>
              <a:rPr lang="en-US" b="1" dirty="0" smtClean="0"/>
              <a:t>search, insert, and delete data faster.</a:t>
            </a:r>
            <a:endParaRPr lang="en-US" dirty="0" smtClean="0"/>
          </a:p>
          <a:p>
            <a:pPr lvl="1"/>
            <a:r>
              <a:rPr lang="en-US" dirty="0" smtClean="0"/>
              <a:t>It's used to </a:t>
            </a:r>
            <a:r>
              <a:rPr lang="en-US" b="1" dirty="0" smtClean="0"/>
              <a:t>organize index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has 3 levels: </a:t>
            </a:r>
            <a:r>
              <a:rPr lang="en-US" b="1" dirty="0" smtClean="0"/>
              <a:t>root node</a:t>
            </a:r>
            <a:r>
              <a:rPr lang="en-US" dirty="0" smtClean="0"/>
              <a:t>, </a:t>
            </a:r>
            <a:r>
              <a:rPr lang="en-US" b="1" dirty="0" smtClean="0"/>
              <a:t>branch nodes</a:t>
            </a:r>
            <a:r>
              <a:rPr lang="en-US" dirty="0" smtClean="0"/>
              <a:t>, and </a:t>
            </a:r>
            <a:r>
              <a:rPr lang="en-US" b="1" dirty="0" smtClean="0"/>
              <a:t>leaf nodes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Think of it like a </a:t>
            </a:r>
            <a:r>
              <a:rPr lang="en-US" b="1" dirty="0" smtClean="0"/>
              <a:t>sorted tree</a:t>
            </a:r>
            <a:r>
              <a:rPr lang="en-US" dirty="0" smtClean="0"/>
              <a:t> that makes finding things quick and easy.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asic B-tree Stru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676400"/>
            <a:ext cx="6172200" cy="44645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Bitmap indexes?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 bitmap is a mapping from one system such as integers to bits. It is also known as bitmap index or a bit array.</a:t>
            </a:r>
          </a:p>
          <a:p>
            <a:r>
              <a:rPr lang="en-US" dirty="0" smtClean="0"/>
              <a:t>The memory is divided into units for bitmap. </a:t>
            </a:r>
          </a:p>
          <a:p>
            <a:r>
              <a:rPr lang="en-US" dirty="0" smtClean="0"/>
              <a:t>These units may range from a few bytes to several kilobytes.</a:t>
            </a:r>
          </a:p>
          <a:p>
            <a:r>
              <a:rPr lang="en-US" dirty="0" smtClean="0"/>
              <a:t>Each memory unit is associated with a bit in the bitmap. </a:t>
            </a:r>
          </a:p>
          <a:p>
            <a:r>
              <a:rPr lang="en-US" dirty="0" smtClean="0"/>
              <a:t>If the unit is occupied, the bit is 1 and if it is empty, the bit is zero.</a:t>
            </a:r>
          </a:p>
          <a:p>
            <a:r>
              <a:rPr lang="en-US" dirty="0" smtClean="0"/>
              <a:t>The bitmap provides a relatively easy way to keep track of memory as the size of the bitmap is only dependent on the size of the memory and the size of the units.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 descr="Untitled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98051" y="1600200"/>
            <a:ext cx="7982847" cy="4495800"/>
          </a:xfrm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62475" y="3414713"/>
            <a:ext cx="19050" cy="2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62475" y="3414713"/>
            <a:ext cx="19050" cy="2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62475" y="3414713"/>
            <a:ext cx="19050" cy="28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based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Function</a:t>
            </a:r>
            <a:r>
              <a:rPr lang="en-US" dirty="0" smtClean="0"/>
              <a:t>-</a:t>
            </a:r>
            <a:r>
              <a:rPr lang="en-US" b="1" dirty="0" smtClean="0"/>
              <a:t>based indexes</a:t>
            </a:r>
            <a:r>
              <a:rPr lang="en-US" dirty="0" smtClean="0"/>
              <a:t> allow you to create an </a:t>
            </a:r>
            <a:r>
              <a:rPr lang="en-US" b="1" dirty="0" smtClean="0"/>
              <a:t>index based</a:t>
            </a:r>
            <a:r>
              <a:rPr lang="en-US" dirty="0" smtClean="0"/>
              <a:t> on a </a:t>
            </a:r>
            <a:r>
              <a:rPr lang="en-US" b="1" dirty="0" smtClean="0"/>
              <a:t>function</a:t>
            </a:r>
            <a:r>
              <a:rPr lang="en-US" dirty="0" smtClean="0"/>
              <a:t> or expression. </a:t>
            </a:r>
          </a:p>
          <a:p>
            <a:r>
              <a:rPr lang="en-US" dirty="0" smtClean="0"/>
              <a:t>Function-based indexes can involve multiple columns, arithmetic expressions, or maybe a PL/SQL function </a:t>
            </a:r>
          </a:p>
          <a:p>
            <a:endParaRPr lang="en-US" dirty="0" smtClean="0"/>
          </a:p>
          <a:p>
            <a:r>
              <a:rPr lang="en-US" dirty="0" smtClean="0"/>
              <a:t>The following example shows how to create a function-based index:</a:t>
            </a:r>
          </a:p>
          <a:p>
            <a:pPr lvl="1"/>
            <a:r>
              <a:rPr lang="en-US" dirty="0" smtClean="0"/>
              <a:t>Create index </a:t>
            </a:r>
            <a:r>
              <a:rPr lang="en-US" dirty="0" err="1" smtClean="0"/>
              <a:t>emp_idx</a:t>
            </a:r>
            <a:r>
              <a:rPr lang="en-US" dirty="0" smtClean="0"/>
              <a:t> on </a:t>
            </a:r>
            <a:r>
              <a:rPr lang="en-US" dirty="0" err="1" smtClean="0"/>
              <a:t>emp</a:t>
            </a:r>
            <a:r>
              <a:rPr lang="en-US" dirty="0" smtClean="0"/>
              <a:t> (upper(</a:t>
            </a:r>
            <a:r>
              <a:rPr lang="en-US" dirty="0" err="1" smtClean="0"/>
              <a:t>ename</a:t>
            </a:r>
            <a:r>
              <a:rPr lang="en-US" dirty="0" smtClean="0"/>
              <a:t>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Application Domain Indexes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Application domain indexes are custom indexes that are specific to the needs of your application. </a:t>
            </a:r>
          </a:p>
          <a:p>
            <a:r>
              <a:rPr lang="en-US" dirty="0" smtClean="0"/>
              <a:t>They can be based on the semantics </a:t>
            </a:r>
            <a:r>
              <a:rPr lang="en-US" dirty="0" smtClean="0"/>
              <a:t>of your </a:t>
            </a:r>
            <a:r>
              <a:rPr lang="en-US" dirty="0" smtClean="0"/>
              <a:t>data and queries.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Suppose you have a table books with a </a:t>
            </a:r>
            <a:r>
              <a:rPr lang="en-US" dirty="0" err="1" smtClean="0"/>
              <a:t>publication_date</a:t>
            </a:r>
            <a:r>
              <a:rPr lang="en-US" dirty="0" smtClean="0"/>
              <a:t> column, and you want to create an index that takes into account the availability of books in a specific library branch. </a:t>
            </a:r>
          </a:p>
          <a:p>
            <a:r>
              <a:rPr lang="en-US" dirty="0" smtClean="0"/>
              <a:t>You could create an application domain index like this:</a:t>
            </a:r>
          </a:p>
          <a:p>
            <a:r>
              <a:rPr lang="en-US" dirty="0" smtClean="0"/>
              <a:t>CREATE INDEX </a:t>
            </a:r>
            <a:r>
              <a:rPr lang="en-US" dirty="0" err="1" smtClean="0"/>
              <a:t>idx_library_availability</a:t>
            </a:r>
            <a:r>
              <a:rPr lang="en-US" dirty="0" smtClean="0"/>
              <a:t> ON books (</a:t>
            </a:r>
            <a:r>
              <a:rPr lang="en-US" dirty="0" err="1" smtClean="0"/>
              <a:t>branch_id</a:t>
            </a:r>
            <a:r>
              <a:rPr lang="en-US" dirty="0" smtClean="0"/>
              <a:t>, </a:t>
            </a:r>
            <a:r>
              <a:rPr lang="en-US" dirty="0" err="1" smtClean="0"/>
              <a:t>publication_date</a:t>
            </a:r>
            <a:r>
              <a:rPr lang="en-US" dirty="0" smtClean="0"/>
              <a:t>);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244</TotalTime>
  <Words>479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Median</vt:lpstr>
      <vt:lpstr>index</vt:lpstr>
      <vt:lpstr>What is indexes ?</vt:lpstr>
      <vt:lpstr>B tree index</vt:lpstr>
      <vt:lpstr>Slide 4</vt:lpstr>
      <vt:lpstr>Slide 5</vt:lpstr>
      <vt:lpstr>Slide 6</vt:lpstr>
      <vt:lpstr>Slide 7</vt:lpstr>
      <vt:lpstr>Slide 8</vt:lpstr>
      <vt:lpstr>What is Bitmap indexes?</vt:lpstr>
      <vt:lpstr>Slide 10</vt:lpstr>
      <vt:lpstr>Functional based index</vt:lpstr>
      <vt:lpstr>Application Domain Indexes: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</dc:title>
  <dc:creator>jj</dc:creator>
  <cp:lastModifiedBy>PC</cp:lastModifiedBy>
  <cp:revision>24</cp:revision>
  <dcterms:created xsi:type="dcterms:W3CDTF">2019-09-18T14:15:13Z</dcterms:created>
  <dcterms:modified xsi:type="dcterms:W3CDTF">2025-10-06T02:31:22Z</dcterms:modified>
</cp:coreProperties>
</file>