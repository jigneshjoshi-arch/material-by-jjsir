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D676B287-6732-4FC2-926B-A0A61EB97625}" type="datetimeFigureOut">
              <a:rPr lang="en-US" smtClean="0"/>
              <a:pPr/>
              <a:t>8/3/2024</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4C5FB47-49BA-4FED-BD76-0681D18D2A4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676B287-6732-4FC2-926B-A0A61EB97625}" type="datetimeFigureOut">
              <a:rPr lang="en-US" smtClean="0"/>
              <a:pPr/>
              <a:t>8/3/2024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4C5FB47-49BA-4FED-BD76-0681D18D2A4F}"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D676B287-6732-4FC2-926B-A0A61EB97625}" type="datetimeFigureOut">
              <a:rPr lang="en-US" smtClean="0"/>
              <a:pPr/>
              <a:t>8/3/2024</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C4C5FB47-49BA-4FED-BD76-0681D18D2A4F}"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D676B287-6732-4FC2-926B-A0A61EB97625}" type="datetimeFigureOut">
              <a:rPr lang="en-US" smtClean="0"/>
              <a:pPr/>
              <a:t>8/3/2024</a:t>
            </a:fld>
            <a:endParaRPr lang="en-US"/>
          </a:p>
        </p:txBody>
      </p:sp>
      <p:sp>
        <p:nvSpPr>
          <p:cNvPr id="10" name="Slide Number Placeholder 9"/>
          <p:cNvSpPr>
            <a:spLocks noGrp="1"/>
          </p:cNvSpPr>
          <p:nvPr>
            <p:ph type="sldNum" sz="quarter" idx="16"/>
          </p:nvPr>
        </p:nvSpPr>
        <p:spPr/>
        <p:txBody>
          <a:bodyPr rtlCol="0"/>
          <a:lstStyle/>
          <a:p>
            <a:fld id="{C4C5FB47-49BA-4FED-BD76-0681D18D2A4F}"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D676B287-6732-4FC2-926B-A0A61EB97625}" type="datetimeFigureOut">
              <a:rPr lang="en-US" smtClean="0"/>
              <a:pPr/>
              <a:t>8/3/2024</a:t>
            </a:fld>
            <a:endParaRPr lang="en-US"/>
          </a:p>
        </p:txBody>
      </p:sp>
      <p:sp>
        <p:nvSpPr>
          <p:cNvPr id="12" name="Slide Number Placeholder 11"/>
          <p:cNvSpPr>
            <a:spLocks noGrp="1"/>
          </p:cNvSpPr>
          <p:nvPr>
            <p:ph type="sldNum" sz="quarter" idx="16"/>
          </p:nvPr>
        </p:nvSpPr>
        <p:spPr/>
        <p:txBody>
          <a:bodyPr rtlCol="0"/>
          <a:lstStyle/>
          <a:p>
            <a:fld id="{C4C5FB47-49BA-4FED-BD76-0681D18D2A4F}"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676B287-6732-4FC2-926B-A0A61EB97625}" type="datetimeFigureOut">
              <a:rPr lang="en-US" smtClean="0"/>
              <a:pPr/>
              <a:t>8/3/2024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4C5FB47-49BA-4FED-BD76-0681D18D2A4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76B287-6732-4FC2-926B-A0A61EB97625}" type="datetimeFigureOut">
              <a:rPr lang="en-US" smtClean="0"/>
              <a:pPr/>
              <a:t>8/3/2024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4C5FB47-49BA-4FED-BD76-0681D18D2A4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676B287-6732-4FC2-926B-A0A61EB97625}" type="datetimeFigureOut">
              <a:rPr lang="en-US" smtClean="0"/>
              <a:pPr/>
              <a:t>8/3/2024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4C5FB47-49BA-4FED-BD76-0681D18D2A4F}"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D676B287-6732-4FC2-926B-A0A61EB97625}" type="datetimeFigureOut">
              <a:rPr lang="en-US" smtClean="0"/>
              <a:pPr/>
              <a:t>8/3/2024</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C4C5FB47-49BA-4FED-BD76-0681D18D2A4F}"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76B287-6732-4FC2-926B-A0A61EB97625}" type="datetimeFigureOut">
              <a:rPr lang="en-US" smtClean="0"/>
              <a:pPr/>
              <a:t>8/3/2024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C5FB47-49BA-4FED-BD76-0681D18D2A4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D676B287-6732-4FC2-926B-A0A61EB97625}" type="datetimeFigureOut">
              <a:rPr lang="en-US" smtClean="0"/>
              <a:pPr/>
              <a:t>8/3/2024</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C4C5FB47-49BA-4FED-BD76-0681D18D2A4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D676B287-6732-4FC2-926B-A0A61EB97625}" type="datetimeFigureOut">
              <a:rPr lang="en-US" smtClean="0"/>
              <a:pPr/>
              <a:t>8/3/2024</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4C5FB47-49BA-4FED-BD76-0681D18D2A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7800" y="2667000"/>
            <a:ext cx="6477000" cy="1066800"/>
          </a:xfrm>
        </p:spPr>
        <p:txBody>
          <a:bodyPr/>
          <a:lstStyle/>
          <a:p>
            <a:r>
              <a:rPr lang="en-US" dirty="0" smtClean="0"/>
              <a:t>Types of relationship</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Relationship in Database :-</a:t>
            </a:r>
            <a:endParaRPr lang="en-US" dirty="0"/>
          </a:p>
        </p:txBody>
      </p:sp>
      <p:sp>
        <p:nvSpPr>
          <p:cNvPr id="3" name="Content Placeholder 2"/>
          <p:cNvSpPr>
            <a:spLocks noGrp="1"/>
          </p:cNvSpPr>
          <p:nvPr>
            <p:ph sz="quarter" idx="1"/>
          </p:nvPr>
        </p:nvSpPr>
        <p:spPr/>
        <p:txBody>
          <a:bodyPr/>
          <a:lstStyle/>
          <a:p>
            <a:r>
              <a:rPr lang="en-US" dirty="0" smtClean="0"/>
              <a:t>Relationships define how entities relate to one another.</a:t>
            </a:r>
          </a:p>
          <a:p>
            <a:r>
              <a:rPr lang="en-US" dirty="0" smtClean="0"/>
              <a:t>Types of relationship </a:t>
            </a:r>
          </a:p>
          <a:p>
            <a:pPr lvl="1"/>
            <a:r>
              <a:rPr lang="en-US" dirty="0" smtClean="0"/>
              <a:t>One to One relationship</a:t>
            </a:r>
          </a:p>
          <a:p>
            <a:pPr lvl="1"/>
            <a:r>
              <a:rPr lang="en-US" dirty="0" smtClean="0"/>
              <a:t>One to many relationship</a:t>
            </a:r>
          </a:p>
          <a:p>
            <a:pPr lvl="1"/>
            <a:r>
              <a:rPr lang="en-US" dirty="0" smtClean="0"/>
              <a:t>many to one relationship</a:t>
            </a:r>
          </a:p>
          <a:p>
            <a:pPr lvl="1"/>
            <a:r>
              <a:rPr lang="en-US" dirty="0" smtClean="0"/>
              <a:t>Many to many relationships</a:t>
            </a:r>
          </a:p>
          <a:p>
            <a:pPr lvl="1"/>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spcBef>
                <a:spcPct val="0"/>
              </a:spcBef>
            </a:pPr>
            <a:r>
              <a:rPr lang="en-US" sz="3600" dirty="0" smtClean="0"/>
              <a:t>One to One relationship :-</a:t>
            </a:r>
            <a:endParaRPr lang="en-US" sz="3600" dirty="0"/>
          </a:p>
        </p:txBody>
      </p:sp>
      <p:sp>
        <p:nvSpPr>
          <p:cNvPr id="3" name="Content Placeholder 2"/>
          <p:cNvSpPr>
            <a:spLocks noGrp="1"/>
          </p:cNvSpPr>
          <p:nvPr>
            <p:ph sz="quarter" idx="1"/>
          </p:nvPr>
        </p:nvSpPr>
        <p:spPr>
          <a:xfrm>
            <a:off x="612648" y="1600200"/>
            <a:ext cx="8153400" cy="3733800"/>
          </a:xfrm>
        </p:spPr>
        <p:txBody>
          <a:bodyPr>
            <a:normAutofit/>
          </a:bodyPr>
          <a:lstStyle/>
          <a:p>
            <a:r>
              <a:rPr lang="en-US" b="1" dirty="0" smtClean="0"/>
              <a:t>One to One Relationship (1:1):</a:t>
            </a:r>
            <a:r>
              <a:rPr lang="en-US" dirty="0" smtClean="0"/>
              <a:t> </a:t>
            </a:r>
          </a:p>
          <a:p>
            <a:r>
              <a:rPr lang="en-US" dirty="0" smtClean="0"/>
              <a:t>It is used to create a relationship between two tables in which a single row of the first table can only be related to one and only one records of a second table. </a:t>
            </a:r>
          </a:p>
          <a:p>
            <a:r>
              <a:rPr lang="en-US" dirty="0" smtClean="0"/>
              <a:t>Similarly, the row of a second table can also be related to anyone row of the first table.</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to one relationship example :-</a:t>
            </a:r>
            <a:endParaRPr lang="en-US" dirty="0"/>
          </a:p>
        </p:txBody>
      </p:sp>
      <p:sp>
        <p:nvSpPr>
          <p:cNvPr id="3" name="Content Placeholder 2"/>
          <p:cNvSpPr>
            <a:spLocks noGrp="1"/>
          </p:cNvSpPr>
          <p:nvPr>
            <p:ph sz="quarter" idx="1"/>
          </p:nvPr>
        </p:nvSpPr>
        <p:spPr/>
        <p:txBody>
          <a:bodyPr/>
          <a:lstStyle/>
          <a:p>
            <a:endParaRPr lang="en-US" dirty="0"/>
          </a:p>
        </p:txBody>
      </p:sp>
      <p:pic>
        <p:nvPicPr>
          <p:cNvPr id="16386" name="Picture 2" descr="Types of Relationship in Database Table"/>
          <p:cNvPicPr>
            <a:picLocks noChangeAspect="1" noChangeArrowheads="1"/>
          </p:cNvPicPr>
          <p:nvPr/>
        </p:nvPicPr>
        <p:blipFill>
          <a:blip r:embed="rId2"/>
          <a:srcRect/>
          <a:stretch>
            <a:fillRect/>
          </a:stretch>
        </p:blipFill>
        <p:spPr bwMode="auto">
          <a:xfrm>
            <a:off x="914400" y="2286000"/>
            <a:ext cx="7991058" cy="33528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One to Many Relationship</a:t>
            </a:r>
            <a:endParaRPr lang="en-US" dirty="0"/>
          </a:p>
        </p:txBody>
      </p:sp>
      <p:sp>
        <p:nvSpPr>
          <p:cNvPr id="3" name="Content Placeholder 2"/>
          <p:cNvSpPr>
            <a:spLocks noGrp="1"/>
          </p:cNvSpPr>
          <p:nvPr>
            <p:ph sz="quarter" idx="1"/>
          </p:nvPr>
        </p:nvSpPr>
        <p:spPr/>
        <p:txBody>
          <a:bodyPr/>
          <a:lstStyle/>
          <a:p>
            <a:r>
              <a:rPr lang="en-US" b="1" dirty="0" smtClean="0"/>
              <a:t>One to Many Relationship:</a:t>
            </a:r>
            <a:r>
              <a:rPr lang="en-US" dirty="0" smtClean="0"/>
              <a:t> It is used to create a relationship between two tables. Any single rows of the first table can be related to one or more rows of the second tables, but the rows of second tables can only relate to the only row in the first table. </a:t>
            </a:r>
          </a:p>
          <a:p>
            <a:r>
              <a:rPr lang="en-US" dirty="0" smtClean="0"/>
              <a:t>It is also known as a </a:t>
            </a:r>
            <a:r>
              <a:rPr lang="en-US" b="1" dirty="0" smtClean="0"/>
              <a:t>many to one</a:t>
            </a:r>
            <a:r>
              <a:rPr lang="en-US" dirty="0" smtClean="0"/>
              <a:t> relationship.</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One to Many Relationship example :-</a:t>
            </a:r>
            <a:endParaRPr lang="en-US" dirty="0"/>
          </a:p>
        </p:txBody>
      </p:sp>
      <p:sp>
        <p:nvSpPr>
          <p:cNvPr id="3" name="Content Placeholder 2"/>
          <p:cNvSpPr>
            <a:spLocks noGrp="1"/>
          </p:cNvSpPr>
          <p:nvPr>
            <p:ph sz="quarter" idx="1"/>
          </p:nvPr>
        </p:nvSpPr>
        <p:spPr>
          <a:xfrm>
            <a:off x="609600" y="1600200"/>
            <a:ext cx="8153400" cy="4495800"/>
          </a:xfrm>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609600" y="1676400"/>
            <a:ext cx="7516813" cy="4514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Many to Many Relationship:</a:t>
            </a:r>
            <a:endParaRPr lang="en-US" dirty="0"/>
          </a:p>
        </p:txBody>
      </p:sp>
      <p:sp>
        <p:nvSpPr>
          <p:cNvPr id="3" name="Content Placeholder 2"/>
          <p:cNvSpPr>
            <a:spLocks noGrp="1"/>
          </p:cNvSpPr>
          <p:nvPr>
            <p:ph sz="quarter" idx="1"/>
          </p:nvPr>
        </p:nvSpPr>
        <p:spPr/>
        <p:txBody>
          <a:bodyPr/>
          <a:lstStyle/>
          <a:p>
            <a:r>
              <a:rPr lang="en-US" b="1" dirty="0" smtClean="0"/>
              <a:t>Many to Many Relationship:</a:t>
            </a:r>
            <a:r>
              <a:rPr lang="en-US" dirty="0" smtClean="0"/>
              <a:t> </a:t>
            </a:r>
          </a:p>
          <a:p>
            <a:r>
              <a:rPr lang="en-US" dirty="0" smtClean="0"/>
              <a:t>It is </a:t>
            </a:r>
            <a:r>
              <a:rPr lang="en-US" b="1" dirty="0" smtClean="0"/>
              <a:t>many to many</a:t>
            </a:r>
            <a:r>
              <a:rPr lang="en-US" dirty="0" smtClean="0"/>
              <a:t> relationships that create a relationship between two tables. </a:t>
            </a:r>
          </a:p>
          <a:p>
            <a:r>
              <a:rPr lang="en-US" dirty="0" smtClean="0"/>
              <a:t>Each record of the first table can relate to any records (or no records) in the second table. Similarly, each record of the second table can also relate to more than one record of the first table. </a:t>
            </a:r>
          </a:p>
          <a:p>
            <a:r>
              <a:rPr lang="en-US" dirty="0" smtClean="0"/>
              <a:t>It is also represented an </a:t>
            </a:r>
            <a:r>
              <a:rPr lang="en-US" b="1" dirty="0" smtClean="0"/>
              <a:t>N:N</a:t>
            </a:r>
            <a:r>
              <a:rPr lang="en-US" dirty="0" smtClean="0"/>
              <a:t> relationship.</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9458" name="Picture 2" descr="Airtable&amp;#39;s guide to many-to-many relationships – Airtable Support"/>
          <p:cNvPicPr>
            <a:picLocks noChangeAspect="1" noChangeArrowheads="1"/>
          </p:cNvPicPr>
          <p:nvPr/>
        </p:nvPicPr>
        <p:blipFill>
          <a:blip r:embed="rId2"/>
          <a:srcRect/>
          <a:stretch>
            <a:fillRect/>
          </a:stretch>
        </p:blipFill>
        <p:spPr bwMode="auto">
          <a:xfrm>
            <a:off x="990600" y="2743200"/>
            <a:ext cx="7162800" cy="1756913"/>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solidFill>
                  <a:schemeClr val="tx1"/>
                </a:solidFill>
              </a:rPr>
              <a:t>Components of SQL</a:t>
            </a:r>
            <a:endParaRPr lang="en-US" sz="3200" dirty="0">
              <a:solidFill>
                <a:schemeClr val="tx1"/>
              </a:solidFill>
            </a:endParaRPr>
          </a:p>
        </p:txBody>
      </p:sp>
      <p:sp>
        <p:nvSpPr>
          <p:cNvPr id="3" name="Subtitle 2"/>
          <p:cNvSpPr>
            <a:spLocks noGrp="1"/>
          </p:cNvSpPr>
          <p:nvPr>
            <p:ph type="subTitle" idx="4294967295"/>
          </p:nvPr>
        </p:nvSpPr>
        <p:spPr>
          <a:xfrm>
            <a:off x="457200" y="1905000"/>
            <a:ext cx="8001000" cy="4953000"/>
          </a:xfrm>
        </p:spPr>
        <p:txBody>
          <a:bodyPr>
            <a:normAutofit fontScale="70000" lnSpcReduction="20000"/>
          </a:bodyPr>
          <a:lstStyle/>
          <a:p>
            <a:pPr algn="l">
              <a:buFont typeface="Wingdings" pitchFamily="2" charset="2"/>
              <a:buChar char="§"/>
            </a:pPr>
            <a:r>
              <a:rPr lang="en-US" dirty="0" smtClean="0"/>
              <a:t> DDL(Data Definition Language) :-</a:t>
            </a:r>
          </a:p>
          <a:p>
            <a:pPr algn="l">
              <a:buFont typeface="Wingdings" pitchFamily="2" charset="2"/>
              <a:buChar char="§"/>
            </a:pPr>
            <a:endParaRPr lang="en-US" dirty="0" smtClean="0"/>
          </a:p>
          <a:p>
            <a:pPr lvl="1" algn="l">
              <a:buFont typeface="Arial" pitchFamily="34" charset="0"/>
              <a:buChar char="•"/>
            </a:pPr>
            <a:r>
              <a:rPr lang="en-US" dirty="0" smtClean="0"/>
              <a:t> Create, Alter, Drop, Truncate, Grant, Revoke</a:t>
            </a:r>
          </a:p>
          <a:p>
            <a:pPr lvl="1" algn="l">
              <a:buFont typeface="Arial" pitchFamily="34" charset="0"/>
              <a:buChar char="•"/>
            </a:pPr>
            <a:endParaRPr lang="en-US" dirty="0" smtClean="0"/>
          </a:p>
          <a:p>
            <a:pPr algn="l">
              <a:buFont typeface="Wingdings" pitchFamily="2" charset="2"/>
              <a:buChar char="§"/>
            </a:pPr>
            <a:r>
              <a:rPr lang="en-US" dirty="0" smtClean="0"/>
              <a:t> DML(Data Manipulation Language) :-</a:t>
            </a:r>
          </a:p>
          <a:p>
            <a:pPr algn="l">
              <a:buFont typeface="Wingdings" pitchFamily="2" charset="2"/>
              <a:buChar char="§"/>
            </a:pPr>
            <a:endParaRPr lang="en-US" dirty="0" smtClean="0"/>
          </a:p>
          <a:p>
            <a:pPr lvl="1" algn="l">
              <a:buFont typeface="Wingdings" pitchFamily="2" charset="2"/>
              <a:buChar char="§"/>
            </a:pPr>
            <a:r>
              <a:rPr lang="en-US" dirty="0" smtClean="0"/>
              <a:t> Insert, Update, Delete</a:t>
            </a:r>
          </a:p>
          <a:p>
            <a:pPr lvl="1" algn="l">
              <a:buFont typeface="Wingdings" pitchFamily="2" charset="2"/>
              <a:buChar char="§"/>
            </a:pPr>
            <a:endParaRPr lang="en-US" dirty="0" smtClean="0"/>
          </a:p>
          <a:p>
            <a:pPr algn="l">
              <a:buFont typeface="Wingdings" pitchFamily="2" charset="2"/>
              <a:buChar char="§"/>
            </a:pPr>
            <a:r>
              <a:rPr lang="en-US" dirty="0" smtClean="0"/>
              <a:t> DCL(Data Control Language) :-</a:t>
            </a:r>
          </a:p>
          <a:p>
            <a:pPr algn="l">
              <a:buFont typeface="Wingdings" pitchFamily="2" charset="2"/>
              <a:buChar char="§"/>
            </a:pPr>
            <a:endParaRPr lang="en-US" dirty="0" smtClean="0"/>
          </a:p>
          <a:p>
            <a:pPr lvl="1" algn="l">
              <a:buFont typeface="Wingdings" pitchFamily="2" charset="2"/>
              <a:buChar char="§"/>
            </a:pPr>
            <a:r>
              <a:rPr lang="en-US" dirty="0" smtClean="0"/>
              <a:t> Commit, </a:t>
            </a:r>
            <a:r>
              <a:rPr lang="en-US" dirty="0" err="1" smtClean="0"/>
              <a:t>Savepoint</a:t>
            </a:r>
            <a:r>
              <a:rPr lang="en-US" dirty="0" smtClean="0"/>
              <a:t>, Rollback, Grant/Revoke</a:t>
            </a:r>
          </a:p>
          <a:p>
            <a:pPr lvl="1" algn="l">
              <a:buFont typeface="Wingdings" pitchFamily="2" charset="2"/>
              <a:buChar char="§"/>
            </a:pPr>
            <a:endParaRPr lang="en-US" dirty="0" smtClean="0"/>
          </a:p>
          <a:p>
            <a:pPr algn="l">
              <a:buFont typeface="Wingdings" pitchFamily="2" charset="2"/>
              <a:buChar char="§"/>
            </a:pPr>
            <a:r>
              <a:rPr lang="en-US" dirty="0" smtClean="0"/>
              <a:t> DQL(Data Query Language) :-</a:t>
            </a:r>
          </a:p>
          <a:p>
            <a:pPr algn="l">
              <a:buFont typeface="Wingdings" pitchFamily="2" charset="2"/>
              <a:buChar char="§"/>
            </a:pPr>
            <a:endParaRPr lang="en-US" dirty="0" smtClean="0"/>
          </a:p>
          <a:p>
            <a:pPr lvl="1" algn="l">
              <a:buFont typeface="Wingdings" pitchFamily="2" charset="2"/>
              <a:buChar char="§"/>
            </a:pPr>
            <a:r>
              <a:rPr lang="en-US" dirty="0" smtClean="0"/>
              <a:t> SELECT </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42</TotalTime>
  <Words>135</Words>
  <Application>Microsoft Office PowerPoint</Application>
  <PresentationFormat>On-screen Show (4:3)</PresentationFormat>
  <Paragraphs>38</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Median</vt:lpstr>
      <vt:lpstr>Types of relationship</vt:lpstr>
      <vt:lpstr>Types of Relationship in Database :-</vt:lpstr>
      <vt:lpstr>One to One relationship :-</vt:lpstr>
      <vt:lpstr>One to one relationship example :-</vt:lpstr>
      <vt:lpstr>One to Many Relationship</vt:lpstr>
      <vt:lpstr>One to Many Relationship example :-</vt:lpstr>
      <vt:lpstr>Many to Many Relationship:</vt:lpstr>
      <vt:lpstr>Slide 8</vt:lpstr>
      <vt:lpstr>Components of SQL</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relationship</dc:title>
  <dc:creator>PC</dc:creator>
  <cp:lastModifiedBy>PC</cp:lastModifiedBy>
  <cp:revision>11</cp:revision>
  <dcterms:created xsi:type="dcterms:W3CDTF">2021-09-17T02:47:09Z</dcterms:created>
  <dcterms:modified xsi:type="dcterms:W3CDTF">2024-08-03T02:43:10Z</dcterms:modified>
</cp:coreProperties>
</file>