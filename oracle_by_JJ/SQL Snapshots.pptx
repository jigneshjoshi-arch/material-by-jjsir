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B0CB1D4-7D5A-4DC8-8B2A-48ACB789A97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D3DA4BC-E956-451D-92EC-374AC560A1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166" y="1928802"/>
            <a:ext cx="5715040" cy="150019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/>
              <a:t>SQL Snapshots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snapshot</a:t>
            </a:r>
            <a:r>
              <a:rPr lang="en-US" dirty="0" smtClean="0"/>
              <a:t> also called a </a:t>
            </a:r>
            <a:r>
              <a:rPr lang="en-US" b="1" dirty="0" smtClean="0"/>
              <a:t>materialized view</a:t>
            </a:r>
            <a:r>
              <a:rPr lang="en-US" dirty="0" smtClean="0"/>
              <a:t> is like a </a:t>
            </a:r>
            <a:r>
              <a:rPr lang="en-US" b="1" dirty="0" smtClean="0"/>
              <a:t>picture or copy</a:t>
            </a:r>
            <a:r>
              <a:rPr lang="en-US" dirty="0" smtClean="0"/>
              <a:t> of a table (or part of it) from another database.</a:t>
            </a:r>
          </a:p>
          <a:p>
            <a:r>
              <a:rPr lang="en-US" dirty="0" smtClean="0"/>
              <a:t>It stores </a:t>
            </a:r>
            <a:r>
              <a:rPr lang="en-US" b="1" dirty="0" smtClean="0"/>
              <a:t>data</a:t>
            </a:r>
            <a:r>
              <a:rPr lang="en-US" dirty="0" smtClean="0"/>
              <a:t> from a </a:t>
            </a:r>
            <a:r>
              <a:rPr lang="en-US" b="1" dirty="0" smtClean="0"/>
              <a:t>master table</a:t>
            </a:r>
            <a:r>
              <a:rPr lang="en-US" dirty="0" smtClean="0"/>
              <a:t>, which can be in the same or a different database.</a:t>
            </a:r>
          </a:p>
          <a:p>
            <a:r>
              <a:rPr lang="en-US" dirty="0" smtClean="0"/>
              <a:t>Snapshots help to </a:t>
            </a:r>
            <a:r>
              <a:rPr lang="en-US" b="1" dirty="0" smtClean="0"/>
              <a:t>share and sync data</a:t>
            </a:r>
            <a:r>
              <a:rPr lang="en-US" dirty="0" smtClean="0"/>
              <a:t> between multiple databases — like having the same data in different places.</a:t>
            </a:r>
          </a:p>
          <a:p>
            <a:pPr fontAlgn="base"/>
            <a:r>
              <a:rPr lang="en-IN" dirty="0" smtClean="0"/>
              <a:t>The SQL statement that creates and subsequently maintains a snapshot normally reads data from the database residing server. </a:t>
            </a:r>
          </a:p>
          <a:p>
            <a:pPr fontAlgn="base"/>
            <a:r>
              <a:rPr lang="en-IN" dirty="0" smtClean="0"/>
              <a:t>A snapshot is created on the destination system with the create snapshot SQL command. The remote table is immediately defined and populated from the master table.</a:t>
            </a:r>
          </a:p>
          <a:p>
            <a:pPr fontAlgn="base"/>
            <a:r>
              <a:rPr lang="en-IN" dirty="0" smtClean="0"/>
              <a:t>These are used to dynamically replicate data between distributed databases. Two types of snapshots are available.</a:t>
            </a:r>
          </a:p>
          <a:p>
            <a:pPr lvl="1" fontAlgn="base"/>
            <a:r>
              <a:rPr lang="en-IN" dirty="0" smtClean="0"/>
              <a:t>Simple snapshots</a:t>
            </a:r>
          </a:p>
          <a:p>
            <a:pPr lvl="1" fontAlgn="base"/>
            <a:r>
              <a:rPr lang="en-IN" dirty="0" smtClean="0"/>
              <a:t>Complex snapshots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Simple snapshot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Based on a </a:t>
            </a:r>
            <a:r>
              <a:rPr lang="en-US" b="1" dirty="0" smtClean="0"/>
              <a:t>basic SELECT</a:t>
            </a:r>
            <a:r>
              <a:rPr lang="en-US" dirty="0" smtClean="0"/>
              <a:t> query from a single table.</a:t>
            </a:r>
          </a:p>
          <a:p>
            <a:r>
              <a:rPr lang="en-US" dirty="0" smtClean="0"/>
              <a:t>Can be automatically refreshed.</a:t>
            </a:r>
          </a:p>
          <a:p>
            <a:r>
              <a:rPr lang="en-US" dirty="0" smtClean="0"/>
              <a:t>Easy to maintain.</a:t>
            </a:r>
          </a:p>
          <a:p>
            <a:pPr fontAlgn="base"/>
            <a:r>
              <a:rPr lang="en-IN" dirty="0" smtClean="0"/>
              <a:t>This consists of either a single table or a simple SELECT of rows from a single table.</a:t>
            </a:r>
          </a:p>
          <a:p>
            <a:pPr fontAlgn="base"/>
            <a:r>
              <a:rPr lang="en-IN" b="1" dirty="0" smtClean="0"/>
              <a:t>Example –</a:t>
            </a:r>
            <a:endParaRPr lang="en-IN" dirty="0" smtClean="0"/>
          </a:p>
          <a:p>
            <a:r>
              <a:rPr lang="en-IN" dirty="0" smtClean="0"/>
              <a:t>CREATE SNAPSHOT </a:t>
            </a:r>
            <a:r>
              <a:rPr lang="en-IN" dirty="0" err="1" smtClean="0"/>
              <a:t>emp_snap</a:t>
            </a:r>
            <a:r>
              <a:rPr lang="en-IN" dirty="0" smtClean="0"/>
              <a:t> as select * from </a:t>
            </a:r>
            <a:r>
              <a:rPr lang="en-IN" dirty="0" err="1" smtClean="0"/>
              <a:t>emp</a:t>
            </a:r>
            <a:r>
              <a:rPr lang="en-IN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Complex snapshot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IN" dirty="0" smtClean="0"/>
              <a:t>In </a:t>
            </a:r>
            <a:r>
              <a:rPr lang="en-IN" b="1" dirty="0" smtClean="0"/>
              <a:t>complex snapshot</a:t>
            </a:r>
            <a:r>
              <a:rPr lang="en-IN" dirty="0" smtClean="0"/>
              <a:t>, a row may be based on more than one row in a remote table via GROUP BY operation or result of Multi-Table Join. </a:t>
            </a:r>
          </a:p>
          <a:p>
            <a:pPr fontAlgn="base"/>
            <a:r>
              <a:rPr lang="en-IN" dirty="0" smtClean="0"/>
              <a:t>This consists of joined tables, views, or grouped and complex SELECT statement queries.</a:t>
            </a:r>
          </a:p>
          <a:p>
            <a:pPr fontAlgn="base"/>
            <a:r>
              <a:rPr lang="en-IN" b="1" dirty="0" smtClean="0"/>
              <a:t>Example –</a:t>
            </a:r>
            <a:endParaRPr lang="en-IN" dirty="0" smtClean="0"/>
          </a:p>
          <a:p>
            <a:r>
              <a:rPr lang="en-IN" dirty="0" smtClean="0"/>
              <a:t>CREATE SNAPSHOT sampleSnps1 AS SELECT </a:t>
            </a:r>
            <a:r>
              <a:rPr lang="en-IN" dirty="0" err="1" smtClean="0"/>
              <a:t>student.rollno</a:t>
            </a:r>
            <a:r>
              <a:rPr lang="en-IN" dirty="0" smtClean="0"/>
              <a:t>, student.name FROM student UNION ALL SELECT </a:t>
            </a:r>
            <a:r>
              <a:rPr lang="en-IN" dirty="0" err="1" smtClean="0"/>
              <a:t>new_student.rollno</a:t>
            </a:r>
            <a:r>
              <a:rPr lang="en-IN" dirty="0" smtClean="0"/>
              <a:t>, new_student.name FROM </a:t>
            </a:r>
            <a:r>
              <a:rPr lang="en-IN" dirty="0" err="1" smtClean="0"/>
              <a:t>new_student</a:t>
            </a:r>
            <a:r>
              <a:rPr lang="en-IN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Ways to Refresh a Materialized </a:t>
            </a:r>
            <a:r>
              <a:rPr lang="en-US" b="1" dirty="0" smtClean="0"/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Manual </a:t>
            </a:r>
            <a:r>
              <a:rPr lang="en-US" b="1" dirty="0" smtClean="0"/>
              <a:t>Refresh</a:t>
            </a:r>
          </a:p>
          <a:p>
            <a:pPr lvl="1"/>
            <a:r>
              <a:rPr lang="en-US" dirty="0" smtClean="0"/>
              <a:t>Use the DBMS_MVIEW.REFRESH procedure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</a:t>
            </a:r>
          </a:p>
          <a:p>
            <a:pPr lvl="1"/>
            <a:r>
              <a:rPr lang="en-US" sz="2000" dirty="0" smtClean="0"/>
              <a:t>EXEC DBMS_MVIEW.REFRESH</a:t>
            </a:r>
            <a:r>
              <a:rPr lang="en-US" sz="2000" dirty="0" smtClean="0"/>
              <a:t>('</a:t>
            </a:r>
            <a:r>
              <a:rPr lang="en-US" sz="2000" dirty="0" err="1" smtClean="0"/>
              <a:t>your_materialized_view_name</a:t>
            </a:r>
            <a:r>
              <a:rPr lang="en-US" sz="2000" dirty="0" smtClean="0"/>
              <a:t>');</a:t>
            </a:r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EXEC DBMS_MVIEW.REFRESH('</a:t>
            </a:r>
            <a:r>
              <a:rPr lang="en-US" dirty="0" err="1" smtClean="0"/>
              <a:t>emp_snapshot</a:t>
            </a:r>
            <a:r>
              <a:rPr lang="en-US" dirty="0" smtClean="0"/>
              <a:t>');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Manual </a:t>
            </a:r>
            <a:r>
              <a:rPr lang="en-US" b="1" dirty="0" smtClean="0"/>
              <a:t>Refresh with Options</a:t>
            </a:r>
          </a:p>
          <a:p>
            <a:r>
              <a:rPr lang="en-US" dirty="0" smtClean="0"/>
              <a:t>You can control how the refresh works:</a:t>
            </a:r>
          </a:p>
          <a:p>
            <a:r>
              <a:rPr lang="en-US" b="1" dirty="0" smtClean="0"/>
              <a:t>Syntax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EXEC </a:t>
            </a:r>
            <a:r>
              <a:rPr lang="en-US" dirty="0" smtClean="0"/>
              <a:t>DBMS_MVIEW.REFRESH('</a:t>
            </a:r>
            <a:r>
              <a:rPr lang="en-US" dirty="0" err="1" smtClean="0"/>
              <a:t>your_view_name</a:t>
            </a:r>
            <a:r>
              <a:rPr lang="en-US" dirty="0" smtClean="0"/>
              <a:t>', '</a:t>
            </a:r>
            <a:r>
              <a:rPr lang="en-US" dirty="0" err="1" smtClean="0"/>
              <a:t>refresh_method</a:t>
            </a:r>
            <a:r>
              <a:rPr lang="en-US" dirty="0" smtClean="0"/>
              <a:t>'); </a:t>
            </a:r>
          </a:p>
          <a:p>
            <a:r>
              <a:rPr lang="en-US" b="1" dirty="0" smtClean="0"/>
              <a:t>Refresh </a:t>
            </a:r>
            <a:r>
              <a:rPr lang="en-US" b="1" dirty="0" smtClean="0"/>
              <a:t>Methods:</a:t>
            </a:r>
          </a:p>
          <a:p>
            <a:pPr lvl="1"/>
            <a:r>
              <a:rPr lang="en-US" dirty="0" smtClean="0"/>
              <a:t>'F' = FAST (only changes)</a:t>
            </a:r>
          </a:p>
          <a:p>
            <a:pPr lvl="1"/>
            <a:r>
              <a:rPr lang="en-US" dirty="0" smtClean="0"/>
              <a:t>'C' = COMPLETE (full rebuild)</a:t>
            </a:r>
          </a:p>
          <a:p>
            <a:pPr lvl="1"/>
            <a:r>
              <a:rPr lang="en-US" dirty="0" smtClean="0"/>
              <a:t>'A' = FORCE (tries FAST first, then COMPLETE)</a:t>
            </a:r>
          </a:p>
          <a:p>
            <a:r>
              <a:rPr lang="en-US" dirty="0" smtClean="0"/>
              <a:t>-- Fast Refresh (if materialized view supports it)</a:t>
            </a:r>
          </a:p>
          <a:p>
            <a:r>
              <a:rPr lang="en-US" dirty="0" smtClean="0"/>
              <a:t>EXEC DBMS_MVIEW.REFRESH('</a:t>
            </a:r>
            <a:r>
              <a:rPr lang="en-US" dirty="0" err="1" smtClean="0"/>
              <a:t>emp_snapshot</a:t>
            </a:r>
            <a:r>
              <a:rPr lang="en-US" dirty="0" smtClean="0"/>
              <a:t>', 'F');</a:t>
            </a:r>
          </a:p>
          <a:p>
            <a:endParaRPr lang="en-US" dirty="0" smtClean="0"/>
          </a:p>
          <a:p>
            <a:r>
              <a:rPr lang="en-US" dirty="0" smtClean="0"/>
              <a:t>-- Complete Refresh</a:t>
            </a:r>
          </a:p>
          <a:p>
            <a:r>
              <a:rPr lang="en-US" dirty="0" smtClean="0"/>
              <a:t>EXEC DBMS_MVIEW.REFRESH('</a:t>
            </a:r>
            <a:r>
              <a:rPr lang="en-US" dirty="0" err="1" smtClean="0"/>
              <a:t>emp_snapshot</a:t>
            </a:r>
            <a:r>
              <a:rPr lang="en-US" dirty="0" smtClean="0"/>
              <a:t>', 'C');</a:t>
            </a:r>
          </a:p>
          <a:p>
            <a:endParaRPr lang="en-US" dirty="0" smtClean="0"/>
          </a:p>
          <a:p>
            <a:r>
              <a:rPr lang="en-US" dirty="0" smtClean="0"/>
              <a:t>-- Force Refresh</a:t>
            </a:r>
          </a:p>
          <a:p>
            <a:r>
              <a:rPr lang="en-US" dirty="0" smtClean="0"/>
              <a:t>EXEC DBMS_MVIEW.REFRESH('</a:t>
            </a:r>
            <a:r>
              <a:rPr lang="en-US" dirty="0" err="1" smtClean="0"/>
              <a:t>emp_snapshot</a:t>
            </a:r>
            <a:r>
              <a:rPr lang="en-US" dirty="0" smtClean="0"/>
              <a:t>', 'A');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Advantages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17070" cy="4829196"/>
          </a:xfrm>
        </p:spPr>
        <p:txBody>
          <a:bodyPr>
            <a:noAutofit/>
          </a:bodyPr>
          <a:lstStyle/>
          <a:p>
            <a:r>
              <a:rPr lang="en-US" sz="1400" b="1" dirty="0" smtClean="0"/>
              <a:t>1. Response time is improved when local read-only copy of table exists</a:t>
            </a:r>
          </a:p>
          <a:p>
            <a:pPr lvl="1"/>
            <a:r>
              <a:rPr lang="en-US" sz="1200" dirty="0" smtClean="0"/>
              <a:t>If you have a </a:t>
            </a:r>
            <a:r>
              <a:rPr lang="en-US" sz="1200" b="1" dirty="0" smtClean="0"/>
              <a:t>local copy</a:t>
            </a:r>
            <a:r>
              <a:rPr lang="en-US" sz="1200" dirty="0" smtClean="0"/>
              <a:t> of the data, your app can access it </a:t>
            </a:r>
            <a:r>
              <a:rPr lang="en-US" sz="1200" b="1" dirty="0" smtClean="0"/>
              <a:t>faster</a:t>
            </a:r>
            <a:r>
              <a:rPr lang="en-US" sz="1200" dirty="0" smtClean="0"/>
              <a:t> — because it doesn't have to go over the network to get it from a remote server.</a:t>
            </a:r>
          </a:p>
          <a:p>
            <a:pPr lvl="1"/>
            <a:r>
              <a:rPr lang="en-US" sz="1200" dirty="0" smtClean="0"/>
              <a:t>This makes </a:t>
            </a:r>
            <a:r>
              <a:rPr lang="en-US" sz="1200" b="1" dirty="0" smtClean="0"/>
              <a:t>queries run quicker</a:t>
            </a:r>
            <a:r>
              <a:rPr lang="en-US" sz="1200" dirty="0" smtClean="0"/>
              <a:t>.</a:t>
            </a:r>
          </a:p>
          <a:p>
            <a:r>
              <a:rPr lang="en-US" sz="1400" b="1" dirty="0" smtClean="0"/>
              <a:t>2. Ease network loads</a:t>
            </a:r>
          </a:p>
          <a:p>
            <a:pPr lvl="1"/>
            <a:r>
              <a:rPr lang="en-US" sz="1200" dirty="0" smtClean="0"/>
              <a:t>Without snapshots, every user or app must connect to the </a:t>
            </a:r>
            <a:r>
              <a:rPr lang="en-US" sz="1200" b="1" dirty="0" smtClean="0"/>
              <a:t>main database</a:t>
            </a:r>
            <a:r>
              <a:rPr lang="en-US" sz="1200" dirty="0" smtClean="0"/>
              <a:t> to get data — causing </a:t>
            </a:r>
            <a:r>
              <a:rPr lang="en-US" sz="1200" b="1" dirty="0" smtClean="0"/>
              <a:t>network traffic</a:t>
            </a:r>
            <a:r>
              <a:rPr lang="en-US" sz="1200" dirty="0" smtClean="0"/>
              <a:t>.</a:t>
            </a:r>
          </a:p>
          <a:p>
            <a:pPr lvl="1"/>
            <a:r>
              <a:rPr lang="en-US" sz="1200" dirty="0" smtClean="0"/>
              <a:t>With snapshots, users access the </a:t>
            </a:r>
            <a:r>
              <a:rPr lang="en-US" sz="1200" b="1" dirty="0" smtClean="0"/>
              <a:t>local copy</a:t>
            </a:r>
            <a:r>
              <a:rPr lang="en-US" sz="1200" dirty="0" smtClean="0"/>
              <a:t>, which </a:t>
            </a:r>
            <a:r>
              <a:rPr lang="en-US" sz="1200" b="1" dirty="0" smtClean="0"/>
              <a:t>reduces pressure</a:t>
            </a:r>
            <a:r>
              <a:rPr lang="en-US" sz="1200" dirty="0" smtClean="0"/>
              <a:t> on the network.</a:t>
            </a:r>
          </a:p>
          <a:p>
            <a:r>
              <a:rPr lang="en-US" sz="1400" b="1" dirty="0" smtClean="0"/>
              <a:t>3. Data </a:t>
            </a:r>
            <a:r>
              <a:rPr lang="en-US" sz="1400" b="1" dirty="0" err="1" smtClean="0"/>
              <a:t>subsetting</a:t>
            </a:r>
            <a:endParaRPr lang="en-US" sz="1400" b="1" dirty="0" smtClean="0"/>
          </a:p>
          <a:p>
            <a:pPr lvl="1"/>
            <a:r>
              <a:rPr lang="en-US" sz="1200" dirty="0" smtClean="0"/>
              <a:t>Snapshots can store just a </a:t>
            </a:r>
            <a:r>
              <a:rPr lang="en-US" sz="1200" b="1" dirty="0" smtClean="0"/>
              <a:t>part of a table</a:t>
            </a:r>
            <a:r>
              <a:rPr lang="en-US" sz="1200" dirty="0" smtClean="0"/>
              <a:t> — like only some rows or columns.</a:t>
            </a:r>
          </a:p>
          <a:p>
            <a:pPr lvl="1"/>
            <a:r>
              <a:rPr lang="en-US" sz="1200" dirty="0" smtClean="0"/>
              <a:t>This is useful when you don't need the </a:t>
            </a:r>
            <a:r>
              <a:rPr lang="en-US" sz="1200" b="1" dirty="0" smtClean="0"/>
              <a:t>whole table</a:t>
            </a:r>
            <a:r>
              <a:rPr lang="en-US" sz="1200" dirty="0" smtClean="0"/>
              <a:t>, just a </a:t>
            </a:r>
            <a:r>
              <a:rPr lang="en-US" sz="1200" b="1" dirty="0" smtClean="0"/>
              <a:t>subset</a:t>
            </a:r>
            <a:r>
              <a:rPr lang="en-US" sz="1200" dirty="0" smtClean="0"/>
              <a:t> of the data.</a:t>
            </a:r>
          </a:p>
          <a:p>
            <a:r>
              <a:rPr lang="en-US" sz="1400" b="1" dirty="0" smtClean="0"/>
              <a:t>4. Disconnected computing</a:t>
            </a:r>
          </a:p>
          <a:p>
            <a:pPr lvl="1"/>
            <a:r>
              <a:rPr lang="en-US" sz="1200" dirty="0" smtClean="0"/>
              <a:t>Snapshots let users work with data even when </a:t>
            </a:r>
            <a:r>
              <a:rPr lang="en-US" sz="1200" b="1" dirty="0" smtClean="0"/>
              <a:t>not connected</a:t>
            </a:r>
            <a:r>
              <a:rPr lang="en-US" sz="1200" dirty="0" smtClean="0"/>
              <a:t> to the main database.</a:t>
            </a:r>
          </a:p>
          <a:p>
            <a:pPr lvl="1"/>
            <a:r>
              <a:rPr lang="en-US" sz="1200" dirty="0" smtClean="0"/>
              <a:t>This is useful for people working in </a:t>
            </a:r>
            <a:r>
              <a:rPr lang="en-US" sz="1200" b="1" dirty="0" smtClean="0"/>
              <a:t>remote areas</a:t>
            </a:r>
            <a:r>
              <a:rPr lang="en-US" sz="1200" dirty="0" smtClean="0"/>
              <a:t> or on </a:t>
            </a:r>
            <a:r>
              <a:rPr lang="en-US" sz="1200" b="1" dirty="0" smtClean="0"/>
              <a:t>laptops without internet</a:t>
            </a:r>
            <a:r>
              <a:rPr lang="en-US" sz="1200" dirty="0" smtClean="0"/>
              <a:t> — they still have access to the data locally.</a:t>
            </a:r>
          </a:p>
          <a:p>
            <a:r>
              <a:rPr lang="en-US" sz="1400" b="1" dirty="0" smtClean="0"/>
              <a:t>5. Mass deployment</a:t>
            </a:r>
          </a:p>
          <a:p>
            <a:pPr lvl="1"/>
            <a:r>
              <a:rPr lang="en-US" sz="1200" dirty="0" smtClean="0"/>
              <a:t>You can </a:t>
            </a:r>
            <a:r>
              <a:rPr lang="en-US" sz="1200" b="1" dirty="0" smtClean="0"/>
              <a:t>distribute the same snapshot</a:t>
            </a:r>
            <a:r>
              <a:rPr lang="en-US" sz="1200" dirty="0" smtClean="0"/>
              <a:t> to many systems (e.g., branch offices).</a:t>
            </a:r>
          </a:p>
          <a:p>
            <a:pPr lvl="1"/>
            <a:r>
              <a:rPr lang="en-US" sz="1200" dirty="0" smtClean="0"/>
              <a:t>Everyone gets the </a:t>
            </a:r>
            <a:r>
              <a:rPr lang="en-US" sz="1200" b="1" dirty="0" smtClean="0"/>
              <a:t>same data</a:t>
            </a:r>
            <a:r>
              <a:rPr lang="en-US" sz="1200" dirty="0" smtClean="0"/>
              <a:t>, and it can be refreshed regularly.</a:t>
            </a:r>
          </a:p>
          <a:p>
            <a:pPr lvl="1"/>
            <a:r>
              <a:rPr lang="en-US" sz="1200" dirty="0" smtClean="0"/>
              <a:t>This is useful for </a:t>
            </a:r>
            <a:r>
              <a:rPr lang="en-US" sz="1200" b="1" dirty="0" smtClean="0"/>
              <a:t>large companies</a:t>
            </a:r>
            <a:r>
              <a:rPr lang="en-US" sz="1200" dirty="0" smtClean="0"/>
              <a:t> with many locations.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Disadvantages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1. Snapshots are not reachable when primary database goes offline (for refresh)</a:t>
            </a:r>
          </a:p>
          <a:p>
            <a:pPr lvl="1"/>
            <a:r>
              <a:rPr lang="en-US" dirty="0" smtClean="0"/>
              <a:t>Snapshots need to connect to the </a:t>
            </a:r>
            <a:r>
              <a:rPr lang="en-US" b="1" dirty="0" smtClean="0"/>
              <a:t>main (master) database</a:t>
            </a:r>
            <a:r>
              <a:rPr lang="en-US" dirty="0" smtClean="0"/>
              <a:t> to get </a:t>
            </a:r>
            <a:r>
              <a:rPr lang="en-US" b="1" dirty="0" smtClean="0"/>
              <a:t>updated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the </a:t>
            </a:r>
            <a:r>
              <a:rPr lang="en-US" b="1" dirty="0" smtClean="0"/>
              <a:t>main database is down</a:t>
            </a:r>
            <a:r>
              <a:rPr lang="en-US" dirty="0" smtClean="0"/>
              <a:t>, the </a:t>
            </a:r>
            <a:r>
              <a:rPr lang="en-US" b="1" dirty="0" smtClean="0"/>
              <a:t>snapshot cannot be refreshed</a:t>
            </a:r>
            <a:r>
              <a:rPr lang="en-US" dirty="0" smtClean="0"/>
              <a:t>, so you may end up with </a:t>
            </a:r>
            <a:r>
              <a:rPr lang="en-US" b="1" dirty="0" smtClean="0"/>
              <a:t>outdated data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2. It does not support full-text indexing</a:t>
            </a:r>
          </a:p>
          <a:p>
            <a:pPr lvl="1"/>
            <a:r>
              <a:rPr lang="en-US" dirty="0" smtClean="0"/>
              <a:t>Snapshots </a:t>
            </a:r>
            <a:r>
              <a:rPr lang="en-US" b="1" dirty="0" smtClean="0"/>
              <a:t>don’t support advanced search</a:t>
            </a:r>
            <a:r>
              <a:rPr lang="en-US" dirty="0" smtClean="0"/>
              <a:t> features like </a:t>
            </a:r>
            <a:r>
              <a:rPr lang="en-US" b="1" dirty="0" smtClean="0"/>
              <a:t>full-text search</a:t>
            </a:r>
            <a:r>
              <a:rPr lang="en-US" dirty="0" smtClean="0"/>
              <a:t> (searching for words inside large text fields).</a:t>
            </a:r>
          </a:p>
          <a:p>
            <a:pPr lvl="1"/>
            <a:r>
              <a:rPr lang="en-US" dirty="0" smtClean="0"/>
              <a:t>So, if you need to search inside large text (like documents or descriptions), snapshots won’t help much.</a:t>
            </a:r>
          </a:p>
          <a:p>
            <a:r>
              <a:rPr lang="en-US" b="1" dirty="0" smtClean="0"/>
              <a:t>3. Snapshot runs out of disk if data changes frequently</a:t>
            </a:r>
          </a:p>
          <a:p>
            <a:pPr lvl="1"/>
            <a:r>
              <a:rPr lang="en-US" dirty="0" smtClean="0"/>
              <a:t>If the data in the master table is </a:t>
            </a:r>
            <a:r>
              <a:rPr lang="en-US" b="1" dirty="0" smtClean="0"/>
              <a:t>changing a lot</a:t>
            </a:r>
            <a:r>
              <a:rPr lang="en-US" dirty="0" smtClean="0"/>
              <a:t>, the snapshot will have to </a:t>
            </a:r>
            <a:r>
              <a:rPr lang="en-US" b="1" dirty="0" smtClean="0"/>
              <a:t>refresh often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can use </a:t>
            </a:r>
            <a:r>
              <a:rPr lang="en-US" b="1" dirty="0" smtClean="0"/>
              <a:t>a lot of disk space</a:t>
            </a:r>
            <a:r>
              <a:rPr lang="en-US" dirty="0" smtClean="0"/>
              <a:t>, especially if each refresh copies large amounts of new data.</a:t>
            </a:r>
          </a:p>
          <a:p>
            <a:r>
              <a:rPr lang="en-US" b="1" dirty="0" smtClean="0"/>
              <a:t>4. As number of snapshots increases, disk space becomes problematic</a:t>
            </a:r>
          </a:p>
          <a:p>
            <a:pPr lvl="1"/>
            <a:r>
              <a:rPr lang="en-US" dirty="0" smtClean="0"/>
              <a:t>Every snapshot </a:t>
            </a:r>
            <a:r>
              <a:rPr lang="en-US" b="1" dirty="0" smtClean="0"/>
              <a:t>takes up space</a:t>
            </a:r>
            <a:r>
              <a:rPr lang="en-US" dirty="0" smtClean="0"/>
              <a:t> on the disk.</a:t>
            </a:r>
          </a:p>
          <a:p>
            <a:pPr lvl="1"/>
            <a:r>
              <a:rPr lang="en-US" dirty="0" smtClean="0"/>
              <a:t>If you create </a:t>
            </a:r>
            <a:r>
              <a:rPr lang="en-US" b="1" dirty="0" smtClean="0"/>
              <a:t>too many snapshots</a:t>
            </a:r>
            <a:r>
              <a:rPr lang="en-US" dirty="0" smtClean="0"/>
              <a:t>, it can </a:t>
            </a:r>
            <a:r>
              <a:rPr lang="en-US" b="1" dirty="0" smtClean="0"/>
              <a:t>fill up your storage</a:t>
            </a:r>
            <a:r>
              <a:rPr lang="en-US" dirty="0" smtClean="0"/>
              <a:t>, and slow down your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0"/>
            <a:ext cx="8153400" cy="9906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 smtClean="0"/>
              <a:t>Difference Between Normal View and Snapshot (Materialized View)</a:t>
            </a:r>
            <a:endParaRPr lang="en-US" sz="20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42910" y="928670"/>
          <a:ext cx="81534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/>
                <a:gridCol w="2717800"/>
                <a:gridCol w="2717800"/>
              </a:tblGrid>
              <a:tr h="611189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Normal View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Snapshot / Materialized View</a:t>
                      </a:r>
                      <a:endParaRPr lang="en-US"/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b="1" dirty="0"/>
                        <a:t>virtual table</a:t>
                      </a:r>
                      <a:r>
                        <a:rPr lang="en-US" dirty="0"/>
                        <a:t> based on a query.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</a:t>
                      </a:r>
                      <a:r>
                        <a:rPr lang="en-US" b="1"/>
                        <a:t>real table</a:t>
                      </a:r>
                      <a:r>
                        <a:rPr lang="en-US"/>
                        <a:t> that stores </a:t>
                      </a:r>
                      <a:r>
                        <a:rPr lang="en-US" b="1"/>
                        <a:t>copied data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Data Storage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Does </a:t>
                      </a:r>
                      <a:r>
                        <a:rPr lang="en-US" b="1"/>
                        <a:t>not store data</a:t>
                      </a:r>
                      <a:r>
                        <a:rPr lang="en-US"/>
                        <a:t> — just the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Stores data</a:t>
                      </a:r>
                      <a:r>
                        <a:rPr lang="en-US"/>
                        <a:t> physically like a table.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Data Freshness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Always shows </a:t>
                      </a:r>
                      <a:r>
                        <a:rPr lang="en-US" b="1"/>
                        <a:t>latest data</a:t>
                      </a:r>
                      <a:r>
                        <a:rPr lang="en-US"/>
                        <a:t> from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May show </a:t>
                      </a:r>
                      <a:r>
                        <a:rPr lang="en-US" b="1"/>
                        <a:t>old data</a:t>
                      </a:r>
                      <a:r>
                        <a:rPr lang="en-US"/>
                        <a:t> until it is refreshed.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Slower for big queries — data is fetched each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Faster, because data is already stored.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Disk Usage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Uses </a:t>
                      </a:r>
                      <a:r>
                        <a:rPr lang="en-US" b="1"/>
                        <a:t>almost no disk</a:t>
                      </a:r>
                      <a:r>
                        <a:rPr lang="en-US"/>
                        <a:t> (just metadata)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Uses </a:t>
                      </a:r>
                      <a:r>
                        <a:rPr lang="en-US" b="1"/>
                        <a:t>disk space</a:t>
                      </a:r>
                      <a:r>
                        <a:rPr lang="en-US"/>
                        <a:t> to store copied data.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Refresh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refresh needed (always live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Needs to be </a:t>
                      </a:r>
                      <a:r>
                        <a:rPr lang="en-US" b="1"/>
                        <a:t>refreshed</a:t>
                      </a:r>
                      <a:r>
                        <a:rPr lang="en-US"/>
                        <a:t> to stay up-to-date.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Disconnected Use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❌ Needs live connection to base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 Can be used </a:t>
                      </a:r>
                      <a:r>
                        <a:rPr lang="en-US" b="1"/>
                        <a:t>offline</a:t>
                      </a:r>
                      <a:r>
                        <a:rPr lang="en-US"/>
                        <a:t> (after refresh)</a:t>
                      </a:r>
                    </a:p>
                  </a:txBody>
                  <a:tcPr anchor="ctr"/>
                </a:tc>
              </a:tr>
              <a:tr h="611189">
                <a:tc>
                  <a:txBody>
                    <a:bodyPr/>
                    <a:lstStyle/>
                    <a:p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 for </a:t>
                      </a:r>
                      <a:r>
                        <a:rPr lang="en-US" b="1"/>
                        <a:t>real-time queries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for </a:t>
                      </a:r>
                      <a:r>
                        <a:rPr lang="en-US" b="1" dirty="0"/>
                        <a:t>reporting</a:t>
                      </a:r>
                      <a:r>
                        <a:rPr lang="en-US" dirty="0"/>
                        <a:t> or </a:t>
                      </a:r>
                      <a:r>
                        <a:rPr lang="en-US" b="1" dirty="0"/>
                        <a:t>remote locations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85</TotalTime>
  <Words>873</Words>
  <Application>Microsoft Office PowerPoint</Application>
  <PresentationFormat>On-screen Show (4:3)</PresentationFormat>
  <Paragraphs>102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Median</vt:lpstr>
      <vt:lpstr>SQL Snapshots</vt:lpstr>
      <vt:lpstr>Slide 2</vt:lpstr>
      <vt:lpstr>Simple snapshot :</vt:lpstr>
      <vt:lpstr>Complex snapshot :</vt:lpstr>
      <vt:lpstr>Ways to Refresh a Materialized View</vt:lpstr>
      <vt:lpstr>Slide 6</vt:lpstr>
      <vt:lpstr>Advantages :</vt:lpstr>
      <vt:lpstr>Disadvantages :</vt:lpstr>
      <vt:lpstr>Difference Between Normal View and Snapshot (Materialized View)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Snapshots</dc:title>
  <dc:creator>PC</dc:creator>
  <cp:lastModifiedBy>PC</cp:lastModifiedBy>
  <cp:revision>9</cp:revision>
  <dcterms:created xsi:type="dcterms:W3CDTF">2023-09-23T03:44:33Z</dcterms:created>
  <dcterms:modified xsi:type="dcterms:W3CDTF">2025-09-23T06:07:05Z</dcterms:modified>
</cp:coreProperties>
</file>