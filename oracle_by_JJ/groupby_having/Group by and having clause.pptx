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60" r:id="rId5"/>
    <p:sldId id="261" r:id="rId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white">
          <a:xfrm>
            <a:off x="0" y="5971032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-9144" y="6053328"/>
            <a:ext cx="2249424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2359152" y="6044184"/>
            <a:ext cx="6784848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76200" y="6068699"/>
            <a:ext cx="20574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fld id="{C2A89ABD-C7B2-4B5D-BC12-FCBBDB298407}" type="datetimeFigureOut">
              <a:rPr lang="en-US" smtClean="0"/>
              <a:pPr/>
              <a:t>6/27/2023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085393" y="236538"/>
            <a:ext cx="58674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9E658F7-C09B-44A8-8E8D-1996E5695E0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A89ABD-C7B2-4B5D-BC12-FCBBDB298407}" type="datetimeFigureOut">
              <a:rPr lang="en-US" smtClean="0"/>
              <a:pPr/>
              <a:t>6/27/2023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89E658F7-C09B-44A8-8E8D-1996E5695E0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 anchor="t"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Rectangle 6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A89ABD-C7B2-4B5D-BC12-FCBBDB298407}" type="datetimeFigureOut">
              <a:rPr lang="en-US" smtClean="0"/>
              <a:pPr/>
              <a:t>6/27/2023</a:t>
            </a:fld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6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fld id="{89E658F7-C09B-44A8-8E8D-1996E5695E0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C2A89ABD-C7B2-4B5D-BC12-FCBBDB298407}" type="datetimeFigureOut">
              <a:rPr lang="en-US" smtClean="0"/>
              <a:pPr/>
              <a:t>6/27/2023</a:t>
            </a:fld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89E658F7-C09B-44A8-8E8D-1996E5695E0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C2A89ABD-C7B2-4B5D-BC12-FCBBDB298407}" type="datetimeFigureOut">
              <a:rPr lang="en-US" smtClean="0"/>
              <a:pPr/>
              <a:t>6/27/2023</a:t>
            </a:fld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89E658F7-C09B-44A8-8E8D-1996E5695E0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en-US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A89ABD-C7B2-4B5D-BC12-FCBBDB298407}" type="datetimeFigureOut">
              <a:rPr lang="en-US" smtClean="0"/>
              <a:pPr/>
              <a:t>6/27/2023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89E658F7-C09B-44A8-8E8D-1996E5695E0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A89ABD-C7B2-4B5D-BC12-FCBBDB298407}" type="datetimeFigureOut">
              <a:rPr lang="en-US" smtClean="0"/>
              <a:pPr/>
              <a:t>6/27/2023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9E658F7-C09B-44A8-8E8D-1996E5695E0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A89ABD-C7B2-4B5D-BC12-FCBBDB298407}" type="datetimeFigureOut">
              <a:rPr lang="en-US" smtClean="0"/>
              <a:pPr/>
              <a:t>6/27/2023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89E658F7-C09B-44A8-8E8D-1996E5695E0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8" name="Rectangle 7"/>
          <p:cNvSpPr/>
          <p:nvPr/>
        </p:nvSpPr>
        <p:spPr bwMode="white">
          <a:xfrm>
            <a:off x="-9144" y="4572000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-9144" y="4663440"/>
            <a:ext cx="146304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1545336" y="4654296"/>
            <a:ext cx="75986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1" name="Rectangle 10"/>
          <p:cNvSpPr/>
          <p:nvPr/>
        </p:nvSpPr>
        <p:spPr bwMode="white">
          <a:xfrm>
            <a:off x="1447800" y="0"/>
            <a:ext cx="100584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</p:spPr>
        <p:txBody>
          <a:bodyPr rtlCol="0"/>
          <a:lstStyle/>
          <a:p>
            <a:fld id="{C2A89ABD-C7B2-4B5D-BC12-FCBBDB298407}" type="datetimeFigureOut">
              <a:rPr lang="en-US" smtClean="0"/>
              <a:pPr/>
              <a:t>6/27/2023</a:t>
            </a:fld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447800" cy="663578"/>
          </a:xfrm>
        </p:spPr>
        <p:txBody>
          <a:bodyPr rtlCol="0"/>
          <a:lstStyle>
            <a:lvl1pPr>
              <a:defRPr sz="2800"/>
            </a:lvl1pPr>
          </a:lstStyle>
          <a:p>
            <a:fld id="{89E658F7-C09B-44A8-8E8D-1996E5695E0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>
          <a:xfrm>
            <a:off x="1600200" y="6248206"/>
            <a:ext cx="4572000" cy="365125"/>
          </a:xfrm>
        </p:spPr>
        <p:txBody>
          <a:bodyPr rtlCol="0"/>
          <a:lstStyle/>
          <a:p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A89ABD-C7B2-4B5D-BC12-FCBBDB298407}" type="datetimeFigureOut">
              <a:rPr lang="en-US" smtClean="0"/>
              <a:pPr/>
              <a:t>6/27/2023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E658F7-C09B-44A8-8E8D-1996E5695E0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553200" y="6248402"/>
            <a:ext cx="2209800" cy="365125"/>
          </a:xfrm>
        </p:spPr>
        <p:txBody>
          <a:bodyPr/>
          <a:lstStyle/>
          <a:p>
            <a:fld id="{C2A89ABD-C7B2-4B5D-BC12-FCBBDB298407}" type="datetimeFigureOut">
              <a:rPr lang="en-US" smtClean="0"/>
              <a:pPr/>
              <a:t>6/27/2023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7201" y="6248207"/>
            <a:ext cx="557348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 bwMode="white">
          <a:xfrm>
            <a:off x="6096318" y="0"/>
            <a:ext cx="32004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6"/>
          </a:xfrm>
        </p:spPr>
        <p:txBody>
          <a:bodyPr/>
          <a:lstStyle/>
          <a:p>
            <a:fld id="{89E658F7-C09B-44A8-8E8D-1996E5695E0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612648" y="1600200"/>
            <a:ext cx="8153400" cy="452628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C2A89ABD-C7B2-4B5D-BC12-FCBBDB298407}" type="datetimeFigureOut">
              <a:rPr lang="en-US" smtClean="0"/>
              <a:pPr/>
              <a:t>6/27/2023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Rectangle 6"/>
          <p:cNvSpPr/>
          <p:nvPr/>
        </p:nvSpPr>
        <p:spPr bwMode="white">
          <a:xfrm>
            <a:off x="0" y="1234440"/>
            <a:ext cx="9144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0" y="1280160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590550" y="1280160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89E658F7-C09B-44A8-8E8D-1996E5695E08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kumimoji="0"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95400" y="2133600"/>
            <a:ext cx="6477000" cy="182880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smtClean="0"/>
              <a:t>Group by and having clause,</a:t>
            </a:r>
            <a:br>
              <a:rPr lang="en-US" dirty="0" smtClean="0"/>
            </a:br>
            <a:r>
              <a:rPr lang="en-US" dirty="0" smtClean="0"/>
              <a:t>rollup and cube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cs typeface="Aldhabi" pitchFamily="2" charset="-78"/>
              </a:rPr>
              <a:t>The SQL GROUP BY Statement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533400" y="1447800"/>
            <a:ext cx="8156448" cy="5029200"/>
          </a:xfrm>
        </p:spPr>
        <p:txBody>
          <a:bodyPr>
            <a:noAutofit/>
          </a:bodyPr>
          <a:lstStyle/>
          <a:p>
            <a:r>
              <a:rPr lang="en-US" sz="2000" dirty="0" smtClean="0"/>
              <a:t>The GROUP BY statement groups rows that have the same values into summary rows, like "find the </a:t>
            </a:r>
            <a:r>
              <a:rPr lang="en-US" sz="2000" dirty="0" err="1" smtClean="0"/>
              <a:t>maxsal</a:t>
            </a:r>
            <a:r>
              <a:rPr lang="en-US" sz="2000" dirty="0" smtClean="0"/>
              <a:t> from each job in </a:t>
            </a:r>
            <a:r>
              <a:rPr lang="en-US" sz="2000" dirty="0" err="1" smtClean="0"/>
              <a:t>emp</a:t>
            </a:r>
            <a:r>
              <a:rPr lang="en-US" sz="2000" smtClean="0"/>
              <a:t> table".</a:t>
            </a:r>
            <a:endParaRPr lang="en-US" sz="2000" dirty="0" smtClean="0">
              <a:latin typeface="+mj-lt"/>
              <a:cs typeface="Aldhabi" pitchFamily="2" charset="-78"/>
            </a:endParaRPr>
          </a:p>
          <a:p>
            <a:r>
              <a:rPr lang="en-US" sz="2000" dirty="0" smtClean="0">
                <a:latin typeface="+mj-lt"/>
                <a:cs typeface="Aldhabi" pitchFamily="2" charset="-78"/>
              </a:rPr>
              <a:t>The GROUP BY statement is often used with aggregate functions   (COUNT, MAX, MIN, SUM, AVG) to group the result-set by one or more columns.</a:t>
            </a:r>
          </a:p>
          <a:p>
            <a:pPr lvl="1"/>
            <a:endParaRPr lang="en-US" sz="2000" dirty="0" smtClean="0">
              <a:latin typeface="+mj-lt"/>
              <a:cs typeface="Aldhabi" pitchFamily="2" charset="-78"/>
            </a:endParaRPr>
          </a:p>
          <a:p>
            <a:pPr lvl="1"/>
            <a:r>
              <a:rPr lang="en-US" sz="2000" dirty="0" smtClean="0">
                <a:latin typeface="+mj-lt"/>
                <a:cs typeface="Aldhabi" pitchFamily="2" charset="-78"/>
              </a:rPr>
              <a:t>By default, GROUP BY sorts the rows in ascending order based on the values in the group column.</a:t>
            </a:r>
          </a:p>
          <a:p>
            <a:endParaRPr lang="en-US" sz="2000" dirty="0" smtClean="0">
              <a:latin typeface="+mj-lt"/>
              <a:cs typeface="Aldhabi" pitchFamily="2" charset="-78"/>
            </a:endParaRPr>
          </a:p>
          <a:p>
            <a:r>
              <a:rPr lang="en-US" sz="2000" dirty="0" smtClean="0">
                <a:latin typeface="+mj-lt"/>
                <a:cs typeface="Aldhabi" pitchFamily="2" charset="-78"/>
              </a:rPr>
              <a:t>GROUP BY Syntax</a:t>
            </a:r>
          </a:p>
          <a:p>
            <a:pPr lvl="1"/>
            <a:r>
              <a:rPr lang="en-US" sz="2000" dirty="0" smtClean="0">
                <a:latin typeface="+mj-lt"/>
                <a:cs typeface="Aldhabi" pitchFamily="2" charset="-78"/>
              </a:rPr>
              <a:t>SELECT </a:t>
            </a:r>
            <a:r>
              <a:rPr lang="en-US" sz="2000" i="1" dirty="0" err="1" smtClean="0">
                <a:latin typeface="+mj-lt"/>
                <a:cs typeface="Aldhabi" pitchFamily="2" charset="-78"/>
              </a:rPr>
              <a:t>column_name</a:t>
            </a:r>
            <a:r>
              <a:rPr lang="en-US" sz="2000" dirty="0" smtClean="0">
                <a:latin typeface="+mj-lt"/>
                <a:cs typeface="Aldhabi" pitchFamily="2" charset="-78"/>
              </a:rPr>
              <a:t/>
            </a:r>
            <a:br>
              <a:rPr lang="en-US" sz="2000" dirty="0" smtClean="0">
                <a:latin typeface="+mj-lt"/>
                <a:cs typeface="Aldhabi" pitchFamily="2" charset="-78"/>
              </a:rPr>
            </a:br>
            <a:r>
              <a:rPr lang="en-US" sz="2000" dirty="0" smtClean="0">
                <a:latin typeface="+mj-lt"/>
                <a:cs typeface="Aldhabi" pitchFamily="2" charset="-78"/>
              </a:rPr>
              <a:t>FROM </a:t>
            </a:r>
            <a:r>
              <a:rPr lang="en-US" sz="2000" i="1" dirty="0" err="1" smtClean="0">
                <a:latin typeface="+mj-lt"/>
                <a:cs typeface="Aldhabi" pitchFamily="2" charset="-78"/>
              </a:rPr>
              <a:t>table_name</a:t>
            </a:r>
            <a:r>
              <a:rPr lang="en-US" sz="2000" dirty="0" smtClean="0">
                <a:latin typeface="+mj-lt"/>
                <a:cs typeface="Aldhabi" pitchFamily="2" charset="-78"/>
              </a:rPr>
              <a:t/>
            </a:r>
            <a:br>
              <a:rPr lang="en-US" sz="2000" dirty="0" smtClean="0">
                <a:latin typeface="+mj-lt"/>
                <a:cs typeface="Aldhabi" pitchFamily="2" charset="-78"/>
              </a:rPr>
            </a:br>
            <a:r>
              <a:rPr lang="en-US" sz="2000" dirty="0" smtClean="0">
                <a:latin typeface="+mj-lt"/>
                <a:cs typeface="Aldhabi" pitchFamily="2" charset="-78"/>
              </a:rPr>
              <a:t>GROUP BY </a:t>
            </a:r>
            <a:r>
              <a:rPr lang="en-US" sz="2000" i="1" dirty="0" err="1" smtClean="0">
                <a:latin typeface="+mj-lt"/>
                <a:cs typeface="Aldhabi" pitchFamily="2" charset="-78"/>
              </a:rPr>
              <a:t>column_name</a:t>
            </a:r>
            <a:r>
              <a:rPr lang="en-US" sz="2000" i="1" dirty="0" smtClean="0">
                <a:latin typeface="+mj-lt"/>
                <a:cs typeface="Aldhabi" pitchFamily="2" charset="-78"/>
              </a:rPr>
              <a:t/>
            </a:r>
            <a:br>
              <a:rPr lang="en-US" sz="2000" i="1" dirty="0" smtClean="0">
                <a:latin typeface="+mj-lt"/>
                <a:cs typeface="Aldhabi" pitchFamily="2" charset="-78"/>
              </a:rPr>
            </a:br>
            <a:r>
              <a:rPr lang="en-US" sz="2000" dirty="0" smtClean="0">
                <a:latin typeface="+mj-lt"/>
                <a:cs typeface="Aldhabi" pitchFamily="2" charset="-78"/>
              </a:rPr>
              <a:t>ORDER BY </a:t>
            </a:r>
            <a:r>
              <a:rPr lang="en-US" sz="2000" i="1" dirty="0" err="1" smtClean="0">
                <a:latin typeface="+mj-lt"/>
                <a:cs typeface="Aldhabi" pitchFamily="2" charset="-78"/>
              </a:rPr>
              <a:t>column_name</a:t>
            </a:r>
            <a:r>
              <a:rPr lang="en-US" sz="2000" i="1" dirty="0" smtClean="0">
                <a:latin typeface="+mj-lt"/>
                <a:cs typeface="Aldhabi" pitchFamily="2" charset="-78"/>
              </a:rPr>
              <a:t>;</a:t>
            </a:r>
            <a:endParaRPr lang="en-US" sz="2000" dirty="0" smtClean="0">
              <a:latin typeface="+mj-lt"/>
              <a:cs typeface="Aldhabi" pitchFamily="2" charset="-78"/>
            </a:endParaRPr>
          </a:p>
          <a:p>
            <a:endParaRPr lang="en-US" sz="2000" dirty="0">
              <a:latin typeface="+mj-lt"/>
              <a:cs typeface="Aldhabi" pitchFamily="2" charset="-7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The SQL HAVING Clause</a:t>
            </a:r>
          </a:p>
          <a:p>
            <a:endParaRPr lang="en-US" dirty="0" smtClean="0"/>
          </a:p>
          <a:p>
            <a:r>
              <a:rPr lang="en-US" dirty="0" smtClean="0"/>
              <a:t>Having clause special use for give condition to group by like WHERE.</a:t>
            </a:r>
          </a:p>
          <a:p>
            <a:r>
              <a:rPr lang="en-US" dirty="0" smtClean="0"/>
              <a:t>You use the HAVING clause to filter groups of rows</a:t>
            </a:r>
          </a:p>
          <a:p>
            <a:r>
              <a:rPr lang="en-US" dirty="0" smtClean="0"/>
              <a:t>GROUP BY can be used without HAVING.</a:t>
            </a:r>
          </a:p>
          <a:p>
            <a:r>
              <a:rPr lang="en-US" dirty="0" smtClean="0"/>
              <a:t>But HAVING must be used  with GROUP BY.</a:t>
            </a:r>
          </a:p>
          <a:p>
            <a:r>
              <a:rPr lang="en-US" dirty="0" smtClean="0"/>
              <a:t>You place the HAVING clause after your GROUP BY clause:</a:t>
            </a:r>
            <a:br>
              <a:rPr lang="en-US" dirty="0" smtClean="0"/>
            </a:b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HAVING Syntax</a:t>
            </a:r>
          </a:p>
          <a:p>
            <a:endParaRPr lang="en-US" dirty="0" smtClean="0"/>
          </a:p>
          <a:p>
            <a:pPr lvl="1"/>
            <a:r>
              <a:rPr lang="en-US" dirty="0" smtClean="0"/>
              <a:t>SELECT </a:t>
            </a:r>
            <a:r>
              <a:rPr lang="en-US" i="1" dirty="0" err="1" smtClean="0"/>
              <a:t>column_name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FROM </a:t>
            </a:r>
            <a:r>
              <a:rPr lang="en-US" i="1" dirty="0" err="1" smtClean="0"/>
              <a:t>table_name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GROUP BY </a:t>
            </a:r>
            <a:r>
              <a:rPr lang="en-US" i="1" dirty="0" err="1" smtClean="0"/>
              <a:t>column_name</a:t>
            </a:r>
            <a:r>
              <a:rPr lang="en-US" i="1" dirty="0" smtClean="0"/>
              <a:t/>
            </a:r>
            <a:br>
              <a:rPr lang="en-US" i="1" dirty="0" smtClean="0"/>
            </a:br>
            <a:r>
              <a:rPr lang="en-US" dirty="0" smtClean="0"/>
              <a:t>HAVING </a:t>
            </a:r>
            <a:r>
              <a:rPr lang="en-US" i="1" dirty="0" smtClean="0"/>
              <a:t>condition</a:t>
            </a:r>
            <a:br>
              <a:rPr lang="en-US" i="1" dirty="0" smtClean="0"/>
            </a:br>
            <a:r>
              <a:rPr lang="en-US" dirty="0" smtClean="0"/>
              <a:t>ORDER BY </a:t>
            </a:r>
            <a:r>
              <a:rPr lang="en-US" i="1" dirty="0" err="1" smtClean="0"/>
              <a:t>column_name</a:t>
            </a:r>
            <a:r>
              <a:rPr lang="en-US" i="1" dirty="0" smtClean="0"/>
              <a:t>;</a:t>
            </a: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ROLLUP and CUBE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ROLLUP and CUBE are </a:t>
            </a:r>
            <a:r>
              <a:rPr lang="en-US" b="1" dirty="0" smtClean="0"/>
              <a:t>simple extensions to the SELECT statement's GROUP BY clause</a:t>
            </a:r>
            <a:r>
              <a:rPr lang="en-US" dirty="0" smtClean="0"/>
              <a:t>.</a:t>
            </a:r>
          </a:p>
          <a:p>
            <a:r>
              <a:rPr lang="en-US" dirty="0" smtClean="0"/>
              <a:t> ROLLUP creates subtotals at any level of aggregation needed, from the most detailed up to a grand total. </a:t>
            </a:r>
            <a:r>
              <a:rPr lang="en-US" smtClean="0"/>
              <a:t>D</a:t>
            </a:r>
            <a:endParaRPr lang="en-US" dirty="0" smtClean="0"/>
          </a:p>
          <a:p>
            <a:r>
              <a:rPr lang="en-US" dirty="0" smtClean="0"/>
              <a:t>CUBE is an extension similar to ROLLUP , enabling a single statement to calculate all possible combinations of subtotals</a:t>
            </a:r>
            <a:endParaRPr lang="en-US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dia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Median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Median</Template>
  <TotalTime>53</TotalTime>
  <Words>77</Words>
  <Application>Microsoft Office PowerPoint</Application>
  <PresentationFormat>On-screen Show (4:3)</PresentationFormat>
  <Paragraphs>23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Median</vt:lpstr>
      <vt:lpstr>Group by and having clause, rollup and cube</vt:lpstr>
      <vt:lpstr>The SQL GROUP BY Statement</vt:lpstr>
      <vt:lpstr>Slide 3</vt:lpstr>
      <vt:lpstr>Slide 4</vt:lpstr>
      <vt:lpstr>ROLLUP and CUBE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Group by and having clause</dc:title>
  <dc:creator>jj</dc:creator>
  <cp:lastModifiedBy>jjsir</cp:lastModifiedBy>
  <cp:revision>13</cp:revision>
  <dcterms:created xsi:type="dcterms:W3CDTF">2017-07-05T14:53:40Z</dcterms:created>
  <dcterms:modified xsi:type="dcterms:W3CDTF">2023-06-27T16:28:15Z</dcterms:modified>
</cp:coreProperties>
</file>