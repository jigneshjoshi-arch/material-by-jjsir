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254" y="-108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906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906" y="6053328"/>
            <a:ext cx="2436876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5748" y="6044184"/>
            <a:ext cx="73502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559050" y="4038600"/>
            <a:ext cx="701675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559050" y="6050037"/>
            <a:ext cx="72644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2550" y="6068699"/>
            <a:ext cx="222885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6662B368-D714-4085-8A6A-60AFF8F47BC9}" type="datetimeFigureOut">
              <a:rPr lang="en-US" smtClean="0"/>
              <a:pPr/>
              <a:t>26-Aug-2022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259176" y="236541"/>
            <a:ext cx="635635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667750" y="228600"/>
            <a:ext cx="90805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CB7FF0-5E20-45D4-AB13-F0A70C603D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702" y="228600"/>
            <a:ext cx="883285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B368-D714-4085-8A6A-60AFF8F47BC9}" type="datetimeFigureOut">
              <a:rPr lang="en-US" smtClean="0"/>
              <a:pPr/>
              <a:t>26-Aug-2022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DCB7FF0-5E20-45D4-AB13-F0A70C603D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63702" y="1600200"/>
            <a:ext cx="883285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901" y="2743202"/>
            <a:ext cx="7716706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906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40335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485900" y="1600200"/>
            <a:ext cx="84201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1600200"/>
            <a:ext cx="8255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B368-D714-4085-8A6A-60AFF8F47BC9}" type="datetimeFigureOut">
              <a:rPr lang="en-US" smtClean="0"/>
              <a:pPr/>
              <a:t>26-Aug-2022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40335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5DCB7FF0-5E20-45D4-AB13-F0A70C603D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60400" y="1589567"/>
            <a:ext cx="421005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248643" y="1589567"/>
            <a:ext cx="421005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662B368-D714-4085-8A6A-60AFF8F47BC9}" type="datetimeFigureOut">
              <a:rPr lang="en-US" smtClean="0"/>
              <a:pPr/>
              <a:t>26-Aug-2022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5DCB7FF0-5E20-45D4-AB13-F0A70C603D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273050"/>
            <a:ext cx="883285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60400" y="2438400"/>
            <a:ext cx="421005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5200650" y="2438400"/>
            <a:ext cx="421005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662B368-D714-4085-8A6A-60AFF8F47BC9}" type="datetimeFigureOut">
              <a:rPr lang="en-US" smtClean="0"/>
              <a:pPr/>
              <a:t>26-Aug-2022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5DCB7FF0-5E20-45D4-AB13-F0A70C603D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60400" y="1752600"/>
            <a:ext cx="421005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5200650" y="1752600"/>
            <a:ext cx="421005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B368-D714-4085-8A6A-60AFF8F47BC9}" type="datetimeFigureOut">
              <a:rPr lang="en-US" smtClean="0"/>
              <a:pPr/>
              <a:t>26-Aug-2022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DCB7FF0-5E20-45D4-AB13-F0A70C603D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B368-D714-4085-8A6A-60AFF8F47BC9}" type="datetimeFigureOut">
              <a:rPr lang="en-US" smtClean="0"/>
              <a:pPr/>
              <a:t>26-Aug-2022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7785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CB7FF0-5E20-45D4-AB13-F0A70C603D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273050"/>
            <a:ext cx="87503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B368-D714-4085-8A6A-60AFF8F47BC9}" type="datetimeFigureOut">
              <a:rPr lang="en-US" smtClean="0"/>
              <a:pPr/>
              <a:t>26-Aug-2022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DCB7FF0-5E20-45D4-AB13-F0A70C603D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60400" y="1752600"/>
            <a:ext cx="173355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559050" y="1752600"/>
            <a:ext cx="69342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3550" y="5486400"/>
            <a:ext cx="79248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906" y="4572000"/>
            <a:ext cx="9906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906" y="4663440"/>
            <a:ext cx="158496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674114" y="4654296"/>
            <a:ext cx="8231886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550" y="4648200"/>
            <a:ext cx="79248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568450" y="0"/>
            <a:ext cx="108966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769100" y="6248403"/>
            <a:ext cx="2889250" cy="365125"/>
          </a:xfrm>
        </p:spPr>
        <p:txBody>
          <a:bodyPr rtlCol="0"/>
          <a:lstStyle/>
          <a:p>
            <a:fld id="{6662B368-D714-4085-8A6A-60AFF8F47BC9}" type="datetimeFigureOut">
              <a:rPr lang="en-US" smtClean="0"/>
              <a:pPr/>
              <a:t>26-Aug-2022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568450" cy="663578"/>
          </a:xfrm>
        </p:spPr>
        <p:txBody>
          <a:bodyPr rtlCol="0"/>
          <a:lstStyle>
            <a:lvl1pPr>
              <a:defRPr sz="2800"/>
            </a:lvl1pPr>
          </a:lstStyle>
          <a:p>
            <a:fld id="{5DCB7FF0-5E20-45D4-AB13-F0A70C603D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733550" y="6248209"/>
            <a:ext cx="4953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90624" y="0"/>
            <a:ext cx="8215376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B368-D714-4085-8A6A-60AFF8F47BC9}" type="datetimeFigureOut">
              <a:rPr lang="en-US" smtClean="0"/>
              <a:pPr/>
              <a:t>26-Aug-2022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B7FF0-5E20-45D4-AB13-F0A70C603D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99300" y="609603"/>
            <a:ext cx="222885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609600"/>
            <a:ext cx="602615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99300" y="6248405"/>
            <a:ext cx="2393950" cy="365125"/>
          </a:xfrm>
        </p:spPr>
        <p:txBody>
          <a:bodyPr/>
          <a:lstStyle/>
          <a:p>
            <a:fld id="{6662B368-D714-4085-8A6A-60AFF8F47BC9}" type="datetimeFigureOut">
              <a:rPr lang="en-US" smtClean="0"/>
              <a:pPr/>
              <a:t>26-Aug-2022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5301" y="6248210"/>
            <a:ext cx="603794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604344" y="0"/>
            <a:ext cx="34671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653874" y="609600"/>
            <a:ext cx="24765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653874" y="0"/>
            <a:ext cx="24765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6510999" y="134277"/>
            <a:ext cx="533400" cy="264849"/>
          </a:xfrm>
        </p:spPr>
        <p:txBody>
          <a:bodyPr/>
          <a:lstStyle/>
          <a:p>
            <a:fld id="{5DCB7FF0-5E20-45D4-AB13-F0A70C603D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60400" y="228600"/>
            <a:ext cx="883285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63702" y="1600200"/>
            <a:ext cx="883285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604000" y="6248403"/>
            <a:ext cx="288925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662B368-D714-4085-8A6A-60AFF8F47BC9}" type="datetimeFigureOut">
              <a:rPr lang="en-US" smtClean="0"/>
              <a:pPr/>
              <a:t>26-Aug-2022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0401" y="6248209"/>
            <a:ext cx="587284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906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7785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39762" y="1280160"/>
            <a:ext cx="9266238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3"/>
            <a:ext cx="57785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DCB7FF0-5E20-45D4-AB13-F0A70C603D8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5900" y="2286000"/>
            <a:ext cx="7346950" cy="1143000"/>
          </a:xfrm>
        </p:spPr>
        <p:txBody>
          <a:bodyPr/>
          <a:lstStyle/>
          <a:p>
            <a:r>
              <a:rPr lang="en-US" dirty="0" smtClean="0"/>
              <a:t>Conditional statements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PL/SQL If :-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800" dirty="0" smtClean="0">
                <a:latin typeface="Tw Cen MT (Headings)"/>
                <a:cs typeface="FreesiaUPC" pitchFamily="34" charset="-34"/>
              </a:rPr>
              <a:t>PL/SQL supports the programming language features like conditional statements.</a:t>
            </a:r>
          </a:p>
          <a:p>
            <a:r>
              <a:rPr lang="en-US" sz="2800" dirty="0" smtClean="0">
                <a:latin typeface="Tw Cen MT (Headings)"/>
                <a:cs typeface="FreesiaUPC" pitchFamily="34" charset="-34"/>
              </a:rPr>
              <a:t>Its programming constructs are similar to how you use in programming languages like Java and C++.</a:t>
            </a:r>
          </a:p>
          <a:p>
            <a:r>
              <a:rPr lang="en-US" sz="2800" b="1" dirty="0" smtClean="0">
                <a:latin typeface="Tw Cen MT (Headings)"/>
                <a:cs typeface="FreesiaUPC" pitchFamily="34" charset="-34"/>
              </a:rPr>
              <a:t>Syntax: (IF-THEN statement):</a:t>
            </a:r>
            <a:endParaRPr lang="en-US" sz="2800" dirty="0" smtClean="0">
              <a:latin typeface="Tw Cen MT (Headings)"/>
              <a:cs typeface="FreesiaUPC" pitchFamily="34" charset="-34"/>
            </a:endParaRPr>
          </a:p>
          <a:p>
            <a:r>
              <a:rPr lang="en-US" sz="2800" dirty="0" smtClean="0">
                <a:latin typeface="Tw Cen MT (Headings)"/>
                <a:cs typeface="FreesiaUPC" pitchFamily="34" charset="-34"/>
              </a:rPr>
              <a:t>IF condition   </a:t>
            </a:r>
          </a:p>
          <a:p>
            <a:r>
              <a:rPr lang="en-US" sz="2800" b="1" dirty="0" smtClean="0">
                <a:latin typeface="Tw Cen MT (Headings)"/>
                <a:cs typeface="FreesiaUPC" pitchFamily="34" charset="-34"/>
              </a:rPr>
              <a:t>THEN</a:t>
            </a:r>
            <a:r>
              <a:rPr lang="en-US" sz="2800" dirty="0" smtClean="0">
                <a:latin typeface="Tw Cen MT (Headings)"/>
                <a:cs typeface="FreesiaUPC" pitchFamily="34" charset="-34"/>
              </a:rPr>
              <a:t>   </a:t>
            </a:r>
          </a:p>
          <a:p>
            <a:r>
              <a:rPr lang="en-US" sz="2800" dirty="0" smtClean="0">
                <a:latin typeface="Tw Cen MT (Headings)"/>
                <a:cs typeface="FreesiaUPC" pitchFamily="34" charset="-34"/>
              </a:rPr>
              <a:t>Statement: {It </a:t>
            </a:r>
            <a:r>
              <a:rPr lang="en-US" sz="2800" b="1" dirty="0" smtClean="0">
                <a:latin typeface="Tw Cen MT (Headings)"/>
                <a:cs typeface="FreesiaUPC" pitchFamily="34" charset="-34"/>
              </a:rPr>
              <a:t>is</a:t>
            </a:r>
            <a:r>
              <a:rPr lang="en-US" sz="2800" dirty="0" smtClean="0">
                <a:latin typeface="Tw Cen MT (Headings)"/>
                <a:cs typeface="FreesiaUPC" pitchFamily="34" charset="-34"/>
              </a:rPr>
              <a:t> executed </a:t>
            </a:r>
            <a:r>
              <a:rPr lang="en-US" sz="2800" b="1" dirty="0" smtClean="0">
                <a:latin typeface="Tw Cen MT (Headings)"/>
                <a:cs typeface="FreesiaUPC" pitchFamily="34" charset="-34"/>
              </a:rPr>
              <a:t>when</a:t>
            </a:r>
            <a:r>
              <a:rPr lang="en-US" sz="2800" dirty="0" smtClean="0">
                <a:latin typeface="Tw Cen MT (Headings)"/>
                <a:cs typeface="FreesiaUPC" pitchFamily="34" charset="-34"/>
              </a:rPr>
              <a:t> condition </a:t>
            </a:r>
            <a:r>
              <a:rPr lang="en-US" sz="2800" b="1" dirty="0" smtClean="0">
                <a:latin typeface="Tw Cen MT (Headings)"/>
                <a:cs typeface="FreesiaUPC" pitchFamily="34" charset="-34"/>
              </a:rPr>
              <a:t>is</a:t>
            </a:r>
            <a:r>
              <a:rPr lang="en-US" sz="2800" dirty="0" smtClean="0">
                <a:latin typeface="Tw Cen MT (Headings)"/>
                <a:cs typeface="FreesiaUPC" pitchFamily="34" charset="-34"/>
              </a:rPr>
              <a:t> </a:t>
            </a:r>
            <a:r>
              <a:rPr lang="en-US" sz="2800" b="1" dirty="0" smtClean="0">
                <a:latin typeface="Tw Cen MT (Headings)"/>
                <a:cs typeface="FreesiaUPC" pitchFamily="34" charset="-34"/>
              </a:rPr>
              <a:t>true</a:t>
            </a:r>
            <a:r>
              <a:rPr lang="en-US" sz="2800" dirty="0" smtClean="0">
                <a:latin typeface="Tw Cen MT (Headings)"/>
                <a:cs typeface="FreesiaUPC" pitchFamily="34" charset="-34"/>
              </a:rPr>
              <a:t>}  </a:t>
            </a:r>
          </a:p>
          <a:p>
            <a:r>
              <a:rPr lang="en-US" sz="2800" b="1" dirty="0" smtClean="0">
                <a:latin typeface="Tw Cen MT (Headings)"/>
                <a:cs typeface="FreesiaUPC" pitchFamily="34" charset="-34"/>
              </a:rPr>
              <a:t>END</a:t>
            </a:r>
            <a:r>
              <a:rPr lang="en-US" sz="2800" dirty="0" smtClean="0">
                <a:latin typeface="Tw Cen MT (Headings)"/>
                <a:cs typeface="FreesiaUPC" pitchFamily="34" charset="-34"/>
              </a:rPr>
              <a:t> IF;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448" y="304800"/>
            <a:ext cx="9496552" cy="990600"/>
          </a:xfrm>
        </p:spPr>
        <p:txBody>
          <a:bodyPr>
            <a:normAutofit/>
          </a:bodyPr>
          <a:lstStyle/>
          <a:p>
            <a:r>
              <a:rPr lang="en-US" b="1" dirty="0" smtClean="0"/>
              <a:t>Syntax: (IF-THEN-ELSIF-ELSE statement):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0680" y="1752600"/>
            <a:ext cx="7889421" cy="4191000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w Cen MT (Headings)"/>
                <a:cs typeface="FreesiaUPC" pitchFamily="34" charset="-34"/>
              </a:rPr>
              <a:t>IF condition1 </a:t>
            </a:r>
            <a:r>
              <a:rPr lang="en-US" sz="2400" b="1" dirty="0" smtClean="0">
                <a:latin typeface="Tw Cen MT (Headings)"/>
                <a:cs typeface="FreesiaUPC" pitchFamily="34" charset="-34"/>
              </a:rPr>
              <a:t>THEN</a:t>
            </a:r>
            <a:r>
              <a:rPr lang="en-US" sz="2400" dirty="0" smtClean="0">
                <a:latin typeface="Tw Cen MT (Headings)"/>
                <a:cs typeface="FreesiaUPC" pitchFamily="34" charset="-34"/>
              </a:rPr>
              <a:t>  </a:t>
            </a:r>
          </a:p>
          <a:p>
            <a:r>
              <a:rPr lang="en-US" sz="2400" dirty="0" smtClean="0">
                <a:latin typeface="Tw Cen MT (Headings)"/>
                <a:cs typeface="FreesiaUPC" pitchFamily="34" charset="-34"/>
              </a:rPr>
              <a:t>{...statements </a:t>
            </a:r>
            <a:r>
              <a:rPr lang="en-US" sz="2400" b="1" dirty="0" smtClean="0">
                <a:latin typeface="Tw Cen MT (Headings)"/>
                <a:cs typeface="FreesiaUPC" pitchFamily="34" charset="-34"/>
              </a:rPr>
              <a:t>to</a:t>
            </a:r>
            <a:r>
              <a:rPr lang="en-US" sz="2400" dirty="0" smtClean="0">
                <a:latin typeface="Tw Cen MT (Headings)"/>
                <a:cs typeface="FreesiaUPC" pitchFamily="34" charset="-34"/>
              </a:rPr>
              <a:t> </a:t>
            </a:r>
            <a:r>
              <a:rPr lang="en-US" sz="2400" b="1" dirty="0" smtClean="0">
                <a:latin typeface="Tw Cen MT (Headings)"/>
                <a:cs typeface="FreesiaUPC" pitchFamily="34" charset="-34"/>
              </a:rPr>
              <a:t>execute</a:t>
            </a:r>
            <a:r>
              <a:rPr lang="en-US" sz="2400" dirty="0" smtClean="0">
                <a:latin typeface="Tw Cen MT (Headings)"/>
                <a:cs typeface="FreesiaUPC" pitchFamily="34" charset="-34"/>
              </a:rPr>
              <a:t> </a:t>
            </a:r>
            <a:r>
              <a:rPr lang="en-US" sz="2400" b="1" dirty="0" smtClean="0">
                <a:latin typeface="Tw Cen MT (Headings)"/>
                <a:cs typeface="FreesiaUPC" pitchFamily="34" charset="-34"/>
              </a:rPr>
              <a:t>when</a:t>
            </a:r>
            <a:r>
              <a:rPr lang="en-US" sz="2400" dirty="0" smtClean="0">
                <a:latin typeface="Tw Cen MT (Headings)"/>
                <a:cs typeface="FreesiaUPC" pitchFamily="34" charset="-34"/>
              </a:rPr>
              <a:t> condition1 </a:t>
            </a:r>
            <a:r>
              <a:rPr lang="en-US" sz="2400" b="1" dirty="0" smtClean="0">
                <a:latin typeface="Tw Cen MT (Headings)"/>
                <a:cs typeface="FreesiaUPC" pitchFamily="34" charset="-34"/>
              </a:rPr>
              <a:t>is</a:t>
            </a:r>
            <a:r>
              <a:rPr lang="en-US" sz="2400" dirty="0" smtClean="0">
                <a:latin typeface="Tw Cen MT (Headings)"/>
                <a:cs typeface="FreesiaUPC" pitchFamily="34" charset="-34"/>
              </a:rPr>
              <a:t> </a:t>
            </a:r>
            <a:r>
              <a:rPr lang="en-US" sz="2400" b="1" dirty="0" smtClean="0">
                <a:latin typeface="Tw Cen MT (Headings)"/>
                <a:cs typeface="FreesiaUPC" pitchFamily="34" charset="-34"/>
              </a:rPr>
              <a:t>TRUE</a:t>
            </a:r>
            <a:r>
              <a:rPr lang="en-US" sz="2400" dirty="0" smtClean="0">
                <a:latin typeface="Tw Cen MT (Headings)"/>
                <a:cs typeface="FreesiaUPC" pitchFamily="34" charset="-34"/>
              </a:rPr>
              <a:t>...}  </a:t>
            </a:r>
          </a:p>
          <a:p>
            <a:r>
              <a:rPr lang="en-US" sz="2400" dirty="0" smtClean="0">
                <a:latin typeface="Tw Cen MT (Headings)"/>
                <a:cs typeface="FreesiaUPC" pitchFamily="34" charset="-34"/>
              </a:rPr>
              <a:t>ELSIF condition2 </a:t>
            </a:r>
            <a:r>
              <a:rPr lang="en-US" sz="2400" b="1" dirty="0" smtClean="0">
                <a:latin typeface="Tw Cen MT (Headings)"/>
                <a:cs typeface="FreesiaUPC" pitchFamily="34" charset="-34"/>
              </a:rPr>
              <a:t>THEN</a:t>
            </a:r>
            <a:r>
              <a:rPr lang="en-US" sz="2400" dirty="0" smtClean="0">
                <a:latin typeface="Tw Cen MT (Headings)"/>
                <a:cs typeface="FreesiaUPC" pitchFamily="34" charset="-34"/>
              </a:rPr>
              <a:t>  </a:t>
            </a:r>
          </a:p>
          <a:p>
            <a:r>
              <a:rPr lang="en-US" sz="2400" dirty="0" smtClean="0">
                <a:latin typeface="Tw Cen MT (Headings)"/>
                <a:cs typeface="FreesiaUPC" pitchFamily="34" charset="-34"/>
              </a:rPr>
              <a:t>{...statements </a:t>
            </a:r>
            <a:r>
              <a:rPr lang="en-US" sz="2400" b="1" dirty="0" smtClean="0">
                <a:latin typeface="Tw Cen MT (Headings)"/>
                <a:cs typeface="FreesiaUPC" pitchFamily="34" charset="-34"/>
              </a:rPr>
              <a:t>to</a:t>
            </a:r>
            <a:r>
              <a:rPr lang="en-US" sz="2400" dirty="0" smtClean="0">
                <a:latin typeface="Tw Cen MT (Headings)"/>
                <a:cs typeface="FreesiaUPC" pitchFamily="34" charset="-34"/>
              </a:rPr>
              <a:t> </a:t>
            </a:r>
            <a:r>
              <a:rPr lang="en-US" sz="2400" b="1" dirty="0" smtClean="0">
                <a:latin typeface="Tw Cen MT (Headings)"/>
                <a:cs typeface="FreesiaUPC" pitchFamily="34" charset="-34"/>
              </a:rPr>
              <a:t>execute</a:t>
            </a:r>
            <a:r>
              <a:rPr lang="en-US" sz="2400" dirty="0" smtClean="0">
                <a:latin typeface="Tw Cen MT (Headings)"/>
                <a:cs typeface="FreesiaUPC" pitchFamily="34" charset="-34"/>
              </a:rPr>
              <a:t> </a:t>
            </a:r>
            <a:r>
              <a:rPr lang="en-US" sz="2400" b="1" dirty="0" smtClean="0">
                <a:latin typeface="Tw Cen MT (Headings)"/>
                <a:cs typeface="FreesiaUPC" pitchFamily="34" charset="-34"/>
              </a:rPr>
              <a:t>when</a:t>
            </a:r>
            <a:r>
              <a:rPr lang="en-US" sz="2400" dirty="0" smtClean="0">
                <a:latin typeface="Tw Cen MT (Headings)"/>
                <a:cs typeface="FreesiaUPC" pitchFamily="34" charset="-34"/>
              </a:rPr>
              <a:t> condition2 </a:t>
            </a:r>
            <a:r>
              <a:rPr lang="en-US" sz="2400" b="1" dirty="0" smtClean="0">
                <a:latin typeface="Tw Cen MT (Headings)"/>
                <a:cs typeface="FreesiaUPC" pitchFamily="34" charset="-34"/>
              </a:rPr>
              <a:t>is</a:t>
            </a:r>
            <a:r>
              <a:rPr lang="en-US" sz="2400" dirty="0" smtClean="0">
                <a:latin typeface="Tw Cen MT (Headings)"/>
                <a:cs typeface="FreesiaUPC" pitchFamily="34" charset="-34"/>
              </a:rPr>
              <a:t> </a:t>
            </a:r>
            <a:r>
              <a:rPr lang="en-US" sz="2400" b="1" dirty="0" smtClean="0">
                <a:latin typeface="Tw Cen MT (Headings)"/>
                <a:cs typeface="FreesiaUPC" pitchFamily="34" charset="-34"/>
              </a:rPr>
              <a:t>TRUE</a:t>
            </a:r>
            <a:r>
              <a:rPr lang="en-US" sz="2400" dirty="0" smtClean="0">
                <a:latin typeface="Tw Cen MT (Headings)"/>
                <a:cs typeface="FreesiaUPC" pitchFamily="34" charset="-34"/>
              </a:rPr>
              <a:t>...}  </a:t>
            </a:r>
          </a:p>
          <a:p>
            <a:r>
              <a:rPr lang="en-US" sz="2400" b="1" dirty="0" smtClean="0">
                <a:latin typeface="Tw Cen MT (Headings)"/>
                <a:cs typeface="FreesiaUPC" pitchFamily="34" charset="-34"/>
              </a:rPr>
              <a:t>ELSE</a:t>
            </a:r>
            <a:r>
              <a:rPr lang="en-US" sz="2400" dirty="0" smtClean="0">
                <a:latin typeface="Tw Cen MT (Headings)"/>
                <a:cs typeface="FreesiaUPC" pitchFamily="34" charset="-34"/>
              </a:rPr>
              <a:t>  </a:t>
            </a:r>
          </a:p>
          <a:p>
            <a:r>
              <a:rPr lang="en-US" sz="2400" dirty="0" smtClean="0">
                <a:latin typeface="Tw Cen MT (Headings)"/>
                <a:cs typeface="FreesiaUPC" pitchFamily="34" charset="-34"/>
              </a:rPr>
              <a:t>{...statements </a:t>
            </a:r>
            <a:r>
              <a:rPr lang="en-US" sz="2400" b="1" dirty="0" smtClean="0">
                <a:latin typeface="Tw Cen MT (Headings)"/>
                <a:cs typeface="FreesiaUPC" pitchFamily="34" charset="-34"/>
              </a:rPr>
              <a:t>to</a:t>
            </a:r>
            <a:r>
              <a:rPr lang="en-US" sz="2400" dirty="0" smtClean="0">
                <a:latin typeface="Tw Cen MT (Headings)"/>
                <a:cs typeface="FreesiaUPC" pitchFamily="34" charset="-34"/>
              </a:rPr>
              <a:t> </a:t>
            </a:r>
            <a:r>
              <a:rPr lang="en-US" sz="2400" b="1" dirty="0" smtClean="0">
                <a:latin typeface="Tw Cen MT (Headings)"/>
                <a:cs typeface="FreesiaUPC" pitchFamily="34" charset="-34"/>
              </a:rPr>
              <a:t>execute</a:t>
            </a:r>
            <a:r>
              <a:rPr lang="en-US" sz="2400" dirty="0" smtClean="0">
                <a:latin typeface="Tw Cen MT (Headings)"/>
                <a:cs typeface="FreesiaUPC" pitchFamily="34" charset="-34"/>
              </a:rPr>
              <a:t> </a:t>
            </a:r>
            <a:r>
              <a:rPr lang="en-US" sz="2400" b="1" dirty="0" smtClean="0">
                <a:latin typeface="Tw Cen MT (Headings)"/>
                <a:cs typeface="FreesiaUPC" pitchFamily="34" charset="-34"/>
              </a:rPr>
              <a:t>when</a:t>
            </a:r>
            <a:r>
              <a:rPr lang="en-US" sz="2400" dirty="0" smtClean="0">
                <a:latin typeface="Tw Cen MT (Headings)"/>
                <a:cs typeface="FreesiaUPC" pitchFamily="34" charset="-34"/>
              </a:rPr>
              <a:t> both condition1 and condition2 are </a:t>
            </a:r>
            <a:r>
              <a:rPr lang="en-US" sz="2400" b="1" dirty="0" smtClean="0">
                <a:latin typeface="Tw Cen MT (Headings)"/>
                <a:cs typeface="FreesiaUPC" pitchFamily="34" charset="-34"/>
              </a:rPr>
              <a:t>FALSE</a:t>
            </a:r>
            <a:r>
              <a:rPr lang="en-US" sz="2400" dirty="0" smtClean="0">
                <a:latin typeface="Tw Cen MT (Headings)"/>
                <a:cs typeface="FreesiaUPC" pitchFamily="34" charset="-34"/>
              </a:rPr>
              <a:t>...}  </a:t>
            </a:r>
          </a:p>
          <a:p>
            <a:r>
              <a:rPr lang="en-US" sz="2400" b="1" dirty="0" smtClean="0">
                <a:latin typeface="Tw Cen MT (Headings)"/>
                <a:cs typeface="FreesiaUPC" pitchFamily="34" charset="-34"/>
              </a:rPr>
              <a:t>END</a:t>
            </a:r>
            <a:r>
              <a:rPr lang="en-US" sz="2400" dirty="0" smtClean="0">
                <a:latin typeface="Tw Cen MT (Headings)"/>
                <a:cs typeface="FreesiaUPC" pitchFamily="34" charset="-34"/>
              </a:rPr>
              <a:t> IF;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PL/SQL Case Statement :-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63702" y="1600200"/>
            <a:ext cx="8063013" cy="4495800"/>
          </a:xfrm>
        </p:spPr>
        <p:txBody>
          <a:bodyPr>
            <a:normAutofit fontScale="77500" lnSpcReduction="20000"/>
          </a:bodyPr>
          <a:lstStyle/>
          <a:p>
            <a:r>
              <a:rPr lang="en-US" sz="3200" dirty="0" smtClean="0">
                <a:latin typeface="Tw Cen MT (Headings)"/>
                <a:cs typeface="FreesiaUPC" pitchFamily="34" charset="-34"/>
              </a:rPr>
              <a:t>The PL/SQL CASE statement facilitates you to execute a sequence of </a:t>
            </a:r>
            <a:r>
              <a:rPr lang="en-US" sz="3200" dirty="0" err="1" smtClean="0">
                <a:latin typeface="Tw Cen MT (Headings)"/>
                <a:cs typeface="FreesiaUPC" pitchFamily="34" charset="-34"/>
              </a:rPr>
              <a:t>satatements</a:t>
            </a:r>
            <a:r>
              <a:rPr lang="en-US" sz="3200" dirty="0" smtClean="0">
                <a:latin typeface="Tw Cen MT (Headings)"/>
                <a:cs typeface="FreesiaUPC" pitchFamily="34" charset="-34"/>
              </a:rPr>
              <a:t> based on a selector. </a:t>
            </a:r>
          </a:p>
          <a:p>
            <a:r>
              <a:rPr lang="en-US" sz="3200" dirty="0" smtClean="0">
                <a:latin typeface="Tw Cen MT (Headings)"/>
                <a:cs typeface="FreesiaUPC" pitchFamily="34" charset="-34"/>
              </a:rPr>
              <a:t>A selector can be anything such as variable, function or an expression that the CASE statement checks to a </a:t>
            </a:r>
            <a:r>
              <a:rPr lang="en-US" sz="3200" dirty="0" err="1" smtClean="0">
                <a:latin typeface="Tw Cen MT (Headings)"/>
                <a:cs typeface="FreesiaUPC" pitchFamily="34" charset="-34"/>
              </a:rPr>
              <a:t>boolean</a:t>
            </a:r>
            <a:r>
              <a:rPr lang="en-US" sz="3200" dirty="0" smtClean="0">
                <a:latin typeface="Tw Cen MT (Headings)"/>
                <a:cs typeface="FreesiaUPC" pitchFamily="34" charset="-34"/>
              </a:rPr>
              <a:t> value.</a:t>
            </a:r>
          </a:p>
          <a:p>
            <a:r>
              <a:rPr lang="en-US" sz="3200" dirty="0" smtClean="0">
                <a:latin typeface="Tw Cen MT (Headings)"/>
                <a:cs typeface="FreesiaUPC" pitchFamily="34" charset="-34"/>
              </a:rPr>
              <a:t>The CASE statement works like the IF statement, only using the keyword WHEN. </a:t>
            </a:r>
          </a:p>
          <a:p>
            <a:r>
              <a:rPr lang="en-US" sz="3200" dirty="0" smtClean="0">
                <a:latin typeface="Tw Cen MT (Headings)"/>
                <a:cs typeface="FreesiaUPC" pitchFamily="34" charset="-34"/>
              </a:rPr>
              <a:t>A CASE statement is evaluated from top to bottom. </a:t>
            </a:r>
          </a:p>
          <a:p>
            <a:r>
              <a:rPr lang="en-US" sz="3200" dirty="0" smtClean="0">
                <a:latin typeface="Tw Cen MT (Headings)"/>
                <a:cs typeface="FreesiaUPC" pitchFamily="34" charset="-34"/>
              </a:rPr>
              <a:t>If it get the condition TRUE, then the corresponding THEN </a:t>
            </a:r>
            <a:r>
              <a:rPr lang="en-US" sz="3200" dirty="0" err="1" smtClean="0">
                <a:latin typeface="Tw Cen MT (Headings)"/>
                <a:cs typeface="FreesiaUPC" pitchFamily="34" charset="-34"/>
              </a:rPr>
              <a:t>calause</a:t>
            </a:r>
            <a:r>
              <a:rPr lang="en-US" sz="3200" dirty="0" smtClean="0">
                <a:latin typeface="Tw Cen MT (Headings)"/>
                <a:cs typeface="FreesiaUPC" pitchFamily="34" charset="-34"/>
              </a:rPr>
              <a:t> is executed and the execution goes to the END CASE clause.</a:t>
            </a:r>
          </a:p>
          <a:p>
            <a:endParaRPr lang="en-US" sz="3200" dirty="0">
              <a:latin typeface="Tw Cen MT (Headings)"/>
              <a:cs typeface="FreesiaUPC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Syntax for the CASE Statement: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CASE [ expression ]  </a:t>
            </a:r>
          </a:p>
          <a:p>
            <a:r>
              <a:rPr lang="en-US" b="1" dirty="0" smtClean="0"/>
              <a:t>WHEN</a:t>
            </a:r>
            <a:r>
              <a:rPr lang="en-US" dirty="0" smtClean="0"/>
              <a:t> condition_1 </a:t>
            </a:r>
            <a:r>
              <a:rPr lang="en-US" b="1" dirty="0" smtClean="0"/>
              <a:t>THEN</a:t>
            </a:r>
            <a:r>
              <a:rPr lang="en-US" dirty="0" smtClean="0"/>
              <a:t> </a:t>
            </a:r>
          </a:p>
          <a:p>
            <a:pPr lvl="1"/>
            <a:r>
              <a:rPr lang="en-US" dirty="0" smtClean="0"/>
              <a:t>result_1  </a:t>
            </a:r>
          </a:p>
          <a:p>
            <a:r>
              <a:rPr lang="en-US" b="1" dirty="0" smtClean="0"/>
              <a:t>WHEN</a:t>
            </a:r>
            <a:r>
              <a:rPr lang="en-US" dirty="0" smtClean="0"/>
              <a:t> condition_2 </a:t>
            </a:r>
            <a:r>
              <a:rPr lang="en-US" b="1" dirty="0" smtClean="0"/>
              <a:t>THEN</a:t>
            </a:r>
            <a:r>
              <a:rPr lang="en-US" dirty="0" smtClean="0"/>
              <a:t> </a:t>
            </a:r>
          </a:p>
          <a:p>
            <a:pPr lvl="1"/>
            <a:r>
              <a:rPr lang="en-US" dirty="0" smtClean="0"/>
              <a:t>result_2  </a:t>
            </a:r>
          </a:p>
          <a:p>
            <a:r>
              <a:rPr lang="en-US" dirty="0" smtClean="0"/>
              <a:t>   ...  </a:t>
            </a:r>
          </a:p>
          <a:p>
            <a:r>
              <a:rPr lang="en-US" b="1" dirty="0" smtClean="0"/>
              <a:t>WHEN</a:t>
            </a:r>
            <a:r>
              <a:rPr lang="en-US" dirty="0" smtClean="0"/>
              <a:t> </a:t>
            </a:r>
            <a:r>
              <a:rPr lang="en-US" dirty="0" err="1" smtClean="0"/>
              <a:t>condition_n</a:t>
            </a:r>
            <a:r>
              <a:rPr lang="en-US" dirty="0" smtClean="0"/>
              <a:t> </a:t>
            </a:r>
            <a:r>
              <a:rPr lang="en-US" b="1" dirty="0" smtClean="0"/>
              <a:t>THEN</a:t>
            </a:r>
            <a:r>
              <a:rPr lang="en-US" dirty="0" smtClean="0"/>
              <a:t> </a:t>
            </a:r>
          </a:p>
          <a:p>
            <a:pPr lvl="1"/>
            <a:r>
              <a:rPr lang="en-US" dirty="0" err="1" smtClean="0"/>
              <a:t>result_n</a:t>
            </a:r>
            <a:r>
              <a:rPr lang="en-US" dirty="0" smtClean="0"/>
              <a:t>  </a:t>
            </a:r>
          </a:p>
          <a:p>
            <a:r>
              <a:rPr lang="en-US" b="1" dirty="0" smtClean="0"/>
              <a:t>ELSE</a:t>
            </a:r>
            <a:r>
              <a:rPr lang="en-US" dirty="0" smtClean="0"/>
              <a:t> result </a:t>
            </a:r>
          </a:p>
          <a:p>
            <a:r>
              <a:rPr lang="en-US" b="1" dirty="0" smtClean="0"/>
              <a:t>END CASE;</a:t>
            </a:r>
            <a:r>
              <a:rPr lang="en-US" dirty="0" smtClean="0"/>
              <a:t> </a:t>
            </a:r>
          </a:p>
          <a:p>
            <a:r>
              <a:rPr lang="en-US" b="1" dirty="0" smtClean="0"/>
              <a:t>END;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46</TotalTime>
  <Words>146</Words>
  <Application>Microsoft Office PowerPoint</Application>
  <PresentationFormat>A4 Paper (210x297 mm)</PresentationFormat>
  <Paragraphs>35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Median</vt:lpstr>
      <vt:lpstr>Conditional statements</vt:lpstr>
      <vt:lpstr>PL/SQL If :-</vt:lpstr>
      <vt:lpstr>Syntax: (IF-THEN-ELSIF-ELSE statement):</vt:lpstr>
      <vt:lpstr>PL/SQL Case Statement :-</vt:lpstr>
      <vt:lpstr>Syntax for the CASE Statement: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statements</dc:title>
  <dc:creator>jj</dc:creator>
  <cp:lastModifiedBy>PC</cp:lastModifiedBy>
  <cp:revision>7</cp:revision>
  <dcterms:created xsi:type="dcterms:W3CDTF">2020-07-30T13:27:37Z</dcterms:created>
  <dcterms:modified xsi:type="dcterms:W3CDTF">2022-08-26T06:16:37Z</dcterms:modified>
</cp:coreProperties>
</file>